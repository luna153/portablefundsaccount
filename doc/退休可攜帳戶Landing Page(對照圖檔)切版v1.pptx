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1"/>
  </p:sldMasterIdLst>
  <p:notesMasterIdLst>
    <p:notesMasterId r:id="rId24"/>
  </p:notesMasterIdLst>
  <p:handoutMasterIdLst>
    <p:handoutMasterId r:id="rId25"/>
  </p:handoutMasterIdLst>
  <p:sldIdLst>
    <p:sldId id="8952" r:id="rId2"/>
    <p:sldId id="9126" r:id="rId3"/>
    <p:sldId id="9127" r:id="rId4"/>
    <p:sldId id="9128" r:id="rId5"/>
    <p:sldId id="9116" r:id="rId6"/>
    <p:sldId id="9129" r:id="rId7"/>
    <p:sldId id="9104" r:id="rId8"/>
    <p:sldId id="9119" r:id="rId9"/>
    <p:sldId id="9120" r:id="rId10"/>
    <p:sldId id="9121" r:id="rId11"/>
    <p:sldId id="9122" r:id="rId12"/>
    <p:sldId id="9123" r:id="rId13"/>
    <p:sldId id="9124" r:id="rId14"/>
    <p:sldId id="9125" r:id="rId15"/>
    <p:sldId id="9130" r:id="rId16"/>
    <p:sldId id="9133" r:id="rId17"/>
    <p:sldId id="9131" r:id="rId18"/>
    <p:sldId id="9115" r:id="rId19"/>
    <p:sldId id="9117" r:id="rId20"/>
    <p:sldId id="9118" r:id="rId21"/>
    <p:sldId id="9113" r:id="rId22"/>
    <p:sldId id="9134" r:id="rId23"/>
  </p:sldIdLst>
  <p:sldSz cx="11949113" cy="6721475"/>
  <p:notesSz cx="9926638" cy="6797675"/>
  <p:custDataLst>
    <p:tags r:id="rId26"/>
  </p:custDataLst>
  <p:defaultTex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p:defaultTextStyle>
  <p:extLst>
    <p:ext uri="{EFAFB233-063F-42B5-8137-9DF3F51BA10A}">
      <p15:sldGuideLst xmlns:p15="http://schemas.microsoft.com/office/powerpoint/2012/main">
        <p15:guide id="1" orient="horz" pos="2166" userDrawn="1">
          <p15:clr>
            <a:srgbClr val="A4A3A4"/>
          </p15:clr>
        </p15:guide>
        <p15:guide id="2" pos="243" userDrawn="1">
          <p15:clr>
            <a:srgbClr val="A4A3A4"/>
          </p15:clr>
        </p15:guide>
      </p15:sldGuideLst>
    </p:ext>
    <p:ext uri="{2D200454-40CA-4A62-9FC3-DE9A4176ACB9}">
      <p15:notesGuideLst xmlns:p15="http://schemas.microsoft.com/office/powerpoint/2012/main">
        <p15:guide id="1" orient="horz" pos="2141" userDrawn="1">
          <p15:clr>
            <a:srgbClr val="A4A3A4"/>
          </p15:clr>
        </p15:guide>
        <p15:guide id="2" pos="3126"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夏柏雅-信託部-永豐銀行" initials="夏柏雅-信託部-永豐銀行" lastIdx="1" clrIdx="0">
    <p:extLst>
      <p:ext uri="{19B8F6BF-5375-455C-9EA6-DF929625EA0E}">
        <p15:presenceInfo xmlns:p15="http://schemas.microsoft.com/office/powerpoint/2012/main" userId="S::hsia119535@sinopac.com::7a39d4ff-08ac-45a6-a535-71f4ed500c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F5961"/>
    <a:srgbClr val="436CFB"/>
    <a:srgbClr val="FDF3DB"/>
    <a:srgbClr val="2B31F4"/>
    <a:srgbClr val="FFFFFF"/>
    <a:srgbClr val="FF9933"/>
    <a:srgbClr val="FCEDC8"/>
    <a:srgbClr val="DDB67D"/>
    <a:srgbClr val="E0BC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25" autoAdjust="0"/>
    <p:restoredTop sz="75412" autoAdjust="0"/>
  </p:normalViewPr>
  <p:slideViewPr>
    <p:cSldViewPr snapToGrid="0">
      <p:cViewPr varScale="1">
        <p:scale>
          <a:sx n="87" d="100"/>
          <a:sy n="87" d="100"/>
        </p:scale>
        <p:origin x="1602" y="60"/>
      </p:cViewPr>
      <p:guideLst>
        <p:guide orient="horz" pos="2166"/>
        <p:guide pos="24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67" d="100"/>
          <a:sy n="67" d="100"/>
        </p:scale>
        <p:origin x="-756" y="-102"/>
      </p:cViewPr>
      <p:guideLst>
        <p:guide orient="horz" pos="2141"/>
        <p:guide pos="312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4304944" cy="340210"/>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defTabSz="989013">
              <a:defRPr sz="1200" b="0">
                <a:latin typeface="Times New Roman" charset="0"/>
                <a:ea typeface="新細明體" pitchFamily="18" charset="-120"/>
              </a:defRPr>
            </a:lvl1pPr>
          </a:lstStyle>
          <a:p>
            <a:pPr>
              <a:defRPr/>
            </a:pPr>
            <a:endParaRPr lang="en-US" altLang="zh-TW" dirty="0"/>
          </a:p>
        </p:txBody>
      </p:sp>
      <p:sp>
        <p:nvSpPr>
          <p:cNvPr id="7171" name="Rectangle 3"/>
          <p:cNvSpPr>
            <a:spLocks noGrp="1" noChangeArrowheads="1"/>
          </p:cNvSpPr>
          <p:nvPr>
            <p:ph type="dt" sz="quarter" idx="1"/>
          </p:nvPr>
        </p:nvSpPr>
        <p:spPr bwMode="auto">
          <a:xfrm>
            <a:off x="5621697" y="0"/>
            <a:ext cx="4304943" cy="340210"/>
          </a:xfrm>
          <a:prstGeom prst="rect">
            <a:avLst/>
          </a:prstGeom>
          <a:noFill/>
          <a:ln w="9525">
            <a:noFill/>
            <a:miter lim="800000"/>
            <a:headEnd/>
            <a:tailEnd/>
          </a:ln>
          <a:effectLst/>
        </p:spPr>
        <p:txBody>
          <a:bodyPr vert="horz" wrap="square" lIns="98935" tIns="49467" rIns="98935" bIns="49467" numCol="1" anchor="t"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81C88EAB-EE0A-4154-B212-2925DF29A372}" type="datetime1">
              <a:rPr lang="zh-TW" altLang="en-US"/>
              <a:pPr>
                <a:defRPr/>
              </a:pPr>
              <a:t>2023/11/17</a:t>
            </a:fld>
            <a:endParaRPr lang="en-US" altLang="zh-TW" dirty="0"/>
          </a:p>
        </p:txBody>
      </p:sp>
      <p:sp>
        <p:nvSpPr>
          <p:cNvPr id="7172" name="Rectangle 4"/>
          <p:cNvSpPr>
            <a:spLocks noGrp="1" noChangeArrowheads="1"/>
          </p:cNvSpPr>
          <p:nvPr>
            <p:ph type="ftr" sz="quarter" idx="2"/>
          </p:nvPr>
        </p:nvSpPr>
        <p:spPr bwMode="auto">
          <a:xfrm>
            <a:off x="0" y="6457467"/>
            <a:ext cx="4304944" cy="340209"/>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defTabSz="989013">
              <a:defRPr sz="1200" b="0">
                <a:latin typeface="Times New Roman" charset="0"/>
                <a:ea typeface="新細明體" pitchFamily="18" charset="-120"/>
              </a:defRPr>
            </a:lvl1pPr>
          </a:lstStyle>
          <a:p>
            <a:pPr>
              <a:defRPr/>
            </a:pPr>
            <a:r>
              <a:rPr lang="zh-TW" altLang="en-US"/>
              <a:t>20060726 STCv1</a:t>
            </a:r>
            <a:endParaRPr lang="en-US" altLang="zh-TW" dirty="0"/>
          </a:p>
        </p:txBody>
      </p:sp>
      <p:sp>
        <p:nvSpPr>
          <p:cNvPr id="7173" name="Rectangle 5"/>
          <p:cNvSpPr>
            <a:spLocks noGrp="1" noChangeArrowheads="1"/>
          </p:cNvSpPr>
          <p:nvPr>
            <p:ph type="sldNum" sz="quarter" idx="3"/>
          </p:nvPr>
        </p:nvSpPr>
        <p:spPr bwMode="auto">
          <a:xfrm>
            <a:off x="5621697" y="6457467"/>
            <a:ext cx="4304943" cy="340209"/>
          </a:xfrm>
          <a:prstGeom prst="rect">
            <a:avLst/>
          </a:prstGeom>
          <a:noFill/>
          <a:ln w="9525">
            <a:noFill/>
            <a:miter lim="800000"/>
            <a:headEnd/>
            <a:tailEnd/>
          </a:ln>
          <a:effectLst/>
        </p:spPr>
        <p:txBody>
          <a:bodyPr vert="horz" wrap="square" lIns="98935" tIns="49467" rIns="98935" bIns="49467" numCol="1" anchor="b" anchorCtr="0" compatLnSpc="1">
            <a:prstTxWarp prst="textNoShape">
              <a:avLst/>
            </a:prstTxWarp>
          </a:bodyPr>
          <a:lstStyle>
            <a:lvl1pPr algn="r" defTabSz="989013">
              <a:defRPr sz="1200" b="0">
                <a:latin typeface="Times New Roman" charset="0"/>
                <a:ea typeface="新細明體" pitchFamily="18" charset="-120"/>
              </a:defRPr>
            </a:lvl1pPr>
          </a:lstStyle>
          <a:p>
            <a:pPr>
              <a:defRPr/>
            </a:pPr>
            <a:fld id="{21C6206E-F53A-43CF-8083-2B602C0BB7D5}" type="slidenum">
              <a:rPr lang="zh-TW" altLang="en-US"/>
              <a:pPr>
                <a:defRPr/>
              </a:pPr>
              <a:t>‹#›</a:t>
            </a:fld>
            <a:endParaRPr lang="en-US" altLang="zh-TW" dirty="0"/>
          </a:p>
        </p:txBody>
      </p:sp>
    </p:spTree>
    <p:extLst>
      <p:ext uri="{BB962C8B-B14F-4D97-AF65-F5344CB8AC3E}">
        <p14:creationId xmlns:p14="http://schemas.microsoft.com/office/powerpoint/2010/main" val="810698500"/>
      </p:ext>
    </p:extLst>
  </p:cSld>
  <p:clrMap bg1="lt1" tx1="dk1" bg2="lt2" tx2="dk2" accent1="accent1" accent2="accent2" accent3="accent3" accent4="accent4" accent5="accent5" accent6="accent6" hlink="hlink" folHlink="folHlink"/>
  <p:hf sldNum="0"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4"/>
          <p:cNvSpPr>
            <a:spLocks noGrp="1" noRot="1" noChangeAspect="1" noChangeArrowheads="1" noTextEdit="1"/>
          </p:cNvSpPr>
          <p:nvPr>
            <p:ph type="sldImg" idx="2"/>
          </p:nvPr>
        </p:nvSpPr>
        <p:spPr bwMode="auto">
          <a:xfrm>
            <a:off x="-230188" y="876300"/>
            <a:ext cx="10321926" cy="580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5125" name="Rectangle 5"/>
          <p:cNvSpPr>
            <a:spLocks noGrp="1" noChangeArrowheads="1"/>
          </p:cNvSpPr>
          <p:nvPr>
            <p:ph type="body" sz="quarter" idx="3"/>
          </p:nvPr>
        </p:nvSpPr>
        <p:spPr bwMode="auto">
          <a:xfrm>
            <a:off x="1189250" y="251083"/>
            <a:ext cx="8243607" cy="224995"/>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ltLang="zh-TW" noProof="0"/>
              <a:t>Click to edit Master text styles</a:t>
            </a:r>
          </a:p>
        </p:txBody>
      </p:sp>
      <p:sp>
        <p:nvSpPr>
          <p:cNvPr id="5126" name="doc id"/>
          <p:cNvSpPr>
            <a:spLocks noGrp="1" noChangeArrowheads="1"/>
          </p:cNvSpPr>
          <p:nvPr>
            <p:ph type="ftr" sz="quarter" idx="4"/>
          </p:nvPr>
        </p:nvSpPr>
        <p:spPr bwMode="auto">
          <a:xfrm>
            <a:off x="8823011" y="37756"/>
            <a:ext cx="804578" cy="123111"/>
          </a:xfrm>
          <a:prstGeom prst="rect">
            <a:avLst/>
          </a:prstGeom>
          <a:noFill/>
          <a:ln w="9525">
            <a:noFill/>
            <a:miter lim="800000"/>
            <a:headEnd/>
            <a:tailEnd/>
          </a:ln>
          <a:effectLst/>
        </p:spPr>
        <p:txBody>
          <a:bodyPr vert="horz" wrap="none" lIns="0" tIns="0" rIns="0" bIns="0" numCol="1" anchor="b" anchorCtr="0" compatLnSpc="1">
            <a:prstTxWarp prst="textNoShape">
              <a:avLst/>
            </a:prstTxWarp>
            <a:spAutoFit/>
          </a:bodyPr>
          <a:lstStyle>
            <a:lvl1pPr algn="r" defTabSz="989013">
              <a:defRPr sz="800" b="0">
                <a:latin typeface="Arial" charset="0"/>
                <a:ea typeface="新細明體" pitchFamily="18" charset="-120"/>
              </a:defRPr>
            </a:lvl1pPr>
          </a:lstStyle>
          <a:p>
            <a:pPr>
              <a:defRPr/>
            </a:pPr>
            <a:r>
              <a:rPr lang="en-US" altLang="zh-TW" dirty="0"/>
              <a:t>20060726 STCv1</a:t>
            </a:r>
            <a:endParaRPr lang="zh-TW" altLang="en-US"/>
          </a:p>
        </p:txBody>
      </p:sp>
      <p:sp>
        <p:nvSpPr>
          <p:cNvPr id="5127" name="pg num"/>
          <p:cNvSpPr>
            <a:spLocks noGrp="1" noChangeArrowheads="1"/>
          </p:cNvSpPr>
          <p:nvPr>
            <p:ph type="sldNum" sz="quarter" idx="5"/>
          </p:nvPr>
        </p:nvSpPr>
        <p:spPr bwMode="auto">
          <a:xfrm>
            <a:off x="8837072" y="6478229"/>
            <a:ext cx="790516" cy="184666"/>
          </a:xfrm>
          <a:prstGeom prst="rect">
            <a:avLst/>
          </a:prstGeom>
          <a:noFill/>
          <a:ln w="9525">
            <a:noFill/>
            <a:miter lim="800000"/>
            <a:headEnd/>
            <a:tailEnd/>
          </a:ln>
          <a:effectLst/>
        </p:spPr>
        <p:txBody>
          <a:bodyPr vert="horz" wrap="square" lIns="0" tIns="0" rIns="0" bIns="0" numCol="1" anchor="b" anchorCtr="0" compatLnSpc="1">
            <a:prstTxWarp prst="textNoShape">
              <a:avLst/>
            </a:prstTxWarp>
            <a:spAutoFit/>
          </a:bodyPr>
          <a:lstStyle>
            <a:lvl1pPr algn="r" defTabSz="989013">
              <a:defRPr sz="1200" b="0">
                <a:latin typeface="Arial" charset="0"/>
                <a:ea typeface="新細明體" pitchFamily="18" charset="-120"/>
              </a:defRPr>
            </a:lvl1pPr>
          </a:lstStyle>
          <a:p>
            <a:pPr>
              <a:defRPr/>
            </a:pPr>
            <a:fld id="{B1E6EC91-7DF2-43D3-8AD2-388AEE0713B1}" type="slidenum">
              <a:rPr lang="zh-TW" altLang="en-US"/>
              <a:pPr>
                <a:defRPr/>
              </a:pPr>
              <a:t>‹#›</a:t>
            </a:fld>
            <a:endParaRPr lang="en-US" altLang="zh-TW" dirty="0"/>
          </a:p>
        </p:txBody>
      </p:sp>
      <p:sp>
        <p:nvSpPr>
          <p:cNvPr id="2" name="McK Separator" hidden="1"/>
          <p:cNvSpPr>
            <a:spLocks noChangeShapeType="1"/>
          </p:cNvSpPr>
          <p:nvPr/>
        </p:nvSpPr>
        <p:spPr bwMode="auto">
          <a:xfrm>
            <a:off x="1189251" y="1033673"/>
            <a:ext cx="75898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TW" altLang="en-US"/>
          </a:p>
        </p:txBody>
      </p:sp>
    </p:spTree>
    <p:extLst>
      <p:ext uri="{BB962C8B-B14F-4D97-AF65-F5344CB8AC3E}">
        <p14:creationId xmlns:p14="http://schemas.microsoft.com/office/powerpoint/2010/main" val="2244334656"/>
      </p:ext>
    </p:extLst>
  </p:cSld>
  <p:clrMap bg1="lt1" tx1="dk1" bg2="lt2" tx2="dk2" accent1="accent1" accent2="accent2" accent3="accent3" accent4="accent4" accent5="accent5" accent6="accent6" hlink="hlink" folHlink="folHlink"/>
  <p:hf sldNum="0" hdr="0"/>
  <p:notesStyle>
    <a:lvl1pPr algn="l" rtl="0" eaLnBrk="0" fontAlgn="base" hangingPunct="0">
      <a:lnSpc>
        <a:spcPct val="90000"/>
      </a:lnSpc>
      <a:spcBef>
        <a:spcPct val="30000"/>
      </a:spcBef>
      <a:spcAft>
        <a:spcPct val="0"/>
      </a:spcAft>
      <a:defRPr sz="1600" b="1" kern="1200">
        <a:solidFill>
          <a:schemeClr val="tx1"/>
        </a:solidFill>
        <a:latin typeface="Arial"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en-US" altLang="zh-CN" dirty="0"/>
          </a:p>
        </p:txBody>
      </p:sp>
      <p:sp>
        <p:nvSpPr>
          <p:cNvPr id="4" name="投影片編號版面配置區 3"/>
          <p:cNvSpPr>
            <a:spLocks noGrp="1"/>
          </p:cNvSpPr>
          <p:nvPr>
            <p:ph type="sldNum" sz="quarter" idx="5"/>
          </p:nvPr>
        </p:nvSpPr>
        <p:spPr/>
        <p:txBody>
          <a:bodyPr/>
          <a:lstStyle/>
          <a:p>
            <a:fld id="{EFEEF92B-1F34-4B78-9B34-7BA20DF0BB14}" type="slidenum">
              <a:rPr lang="zh-TW" altLang="en-US" smtClean="0"/>
              <a:t>1</a:t>
            </a:fld>
            <a:endParaRPr lang="zh-TW" altLang="en-US"/>
          </a:p>
        </p:txBody>
      </p:sp>
    </p:spTree>
    <p:extLst>
      <p:ext uri="{BB962C8B-B14F-4D97-AF65-F5344CB8AC3E}">
        <p14:creationId xmlns:p14="http://schemas.microsoft.com/office/powerpoint/2010/main" val="2960765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b="0" dirty="0">
                <a:effectLst/>
                <a:ea typeface="標楷體" panose="03000509000000000000" pitchFamily="65" charset="-120"/>
                <a:cs typeface="Times New Roman" panose="02020603050405020304" pitchFamily="18" charset="0"/>
              </a:rPr>
              <a:t>退休信託帳戶可攜</a:t>
            </a:r>
            <a:r>
              <a:rPr lang="en-US" altLang="zh-TW" sz="1800" b="0" dirty="0">
                <a:effectLst/>
                <a:ea typeface="標楷體" panose="03000509000000000000" pitchFamily="65" charset="-120"/>
                <a:cs typeface="Times New Roman" panose="02020603050405020304" pitchFamily="18" charset="0"/>
              </a:rPr>
              <a:t>  </a:t>
            </a:r>
            <a:r>
              <a:rPr lang="zh-TW" altLang="zh-TW" sz="1800" b="0" dirty="0">
                <a:effectLst/>
                <a:ea typeface="標楷體" panose="03000509000000000000" pitchFamily="65" charset="-120"/>
                <a:cs typeface="Times New Roman" panose="02020603050405020304" pitchFamily="18" charset="0"/>
              </a:rPr>
              <a:t>投資基金跨行移轉</a:t>
            </a:r>
            <a:endParaRPr lang="en-US" altLang="zh-TW" sz="1800" b="0" dirty="0">
              <a:effectLst/>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基金攜著</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GO</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來永豐享基金定時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定額申購手續費</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 0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元</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r>
              <a:rPr lang="zh-TW" altLang="en-US" sz="1800" b="0" kern="100" dirty="0">
                <a:effectLst/>
                <a:latin typeface="Calibri" panose="020F0502020204030204" pitchFamily="34" charset="0"/>
                <a:ea typeface="標楷體" panose="03000509000000000000" pitchFamily="65" charset="-120"/>
                <a:cs typeface="Times New Roman" panose="02020603050405020304" pitchFamily="18" charset="0"/>
              </a:rPr>
              <a:t>了解詳情</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b="0"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1132554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b="0" dirty="0">
                <a:effectLst/>
                <a:ea typeface="標楷體" panose="03000509000000000000" pitchFamily="65" charset="-120"/>
                <a:cs typeface="Times New Roman" panose="02020603050405020304" pitchFamily="18" charset="0"/>
              </a:rPr>
              <a:t>跨行理財</a:t>
            </a:r>
            <a:endParaRPr lang="en-US" altLang="zh-TW" sz="1800" b="0" dirty="0">
              <a:effectLst/>
              <a:ea typeface="標楷體" panose="03000509000000000000" pitchFamily="65" charset="-120"/>
              <a:cs typeface="Times New Roman" panose="02020603050405020304" pitchFamily="18" charset="0"/>
            </a:endParaRPr>
          </a:p>
          <a:p>
            <a:r>
              <a:rPr lang="zh-TW" altLang="zh-TW" sz="1800" b="0" dirty="0">
                <a:effectLst/>
                <a:ea typeface="標楷體" panose="03000509000000000000" pitchFamily="65" charset="-120"/>
                <a:cs typeface="Times New Roman" panose="02020603050405020304" pitchFamily="18" charset="0"/>
              </a:rPr>
              <a:t>總是為轉換往來銀行，導致投資中斷感到頭痛？</a:t>
            </a:r>
            <a:endParaRPr lang="en-US" altLang="zh-TW" sz="1800" b="0" dirty="0">
              <a:effectLst/>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基金投資庫存不必再因計畫變動而忍痛賣出</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r>
              <a:rPr lang="zh-TW" altLang="zh-TW" sz="1800" b="1" kern="100" dirty="0">
                <a:effectLst/>
                <a:latin typeface="Calibri" panose="020F0502020204030204" pitchFamily="34" charset="0"/>
                <a:ea typeface="標楷體" panose="03000509000000000000" pitchFamily="65" charset="-120"/>
                <a:cs typeface="Times New Roman" panose="02020603050405020304" pitchFamily="18" charset="0"/>
              </a:rPr>
              <a:t>任職工作</a:t>
            </a:r>
            <a:endParaRPr lang="en-US" altLang="zh-TW" sz="1800" b="1" kern="100" dirty="0">
              <a:effectLst/>
              <a:latin typeface="Calibri" panose="020F0502020204030204" pitchFamily="34" charset="0"/>
              <a:ea typeface="標楷體" panose="03000509000000000000" pitchFamily="65" charset="-120"/>
              <a:cs typeface="Times New Roman" panose="02020603050405020304" pitchFamily="18" charset="0"/>
            </a:endParaRPr>
          </a:p>
          <a:p>
            <a:r>
              <a:rPr lang="zh-TW" altLang="zh-TW" sz="1800" b="1" kern="100" dirty="0">
                <a:effectLst/>
                <a:latin typeface="Calibri" panose="020F0502020204030204" pitchFamily="34" charset="0"/>
                <a:ea typeface="標楷體" panose="03000509000000000000" pitchFamily="65" charset="-120"/>
                <a:cs typeface="Times New Roman" panose="02020603050405020304" pitchFamily="18" charset="0"/>
              </a:rPr>
              <a:t>轉換</a:t>
            </a:r>
            <a:endParaRPr lang="en-US" altLang="zh-TW" sz="1800" b="1" kern="100" dirty="0">
              <a:effectLst/>
              <a:latin typeface="Calibri" panose="020F0502020204030204" pitchFamily="34" charset="0"/>
              <a:ea typeface="標楷體" panose="03000509000000000000" pitchFamily="65"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轉換服務企業對應搭配</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不同薪轉銀行，</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投資扣款帳號需配合異動</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1" kern="100" dirty="0">
                <a:effectLst/>
                <a:latin typeface="Calibri" panose="020F0502020204030204" pitchFamily="34" charset="0"/>
                <a:ea typeface="標楷體" panose="03000509000000000000" pitchFamily="65" charset="-120"/>
                <a:cs typeface="Times New Roman" panose="02020603050405020304" pitchFamily="18" charset="0"/>
              </a:rPr>
              <a:t>投資部位</a:t>
            </a:r>
            <a:endParaRPr lang="en-US" altLang="zh-TW" sz="1800" b="1"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1" kern="100" dirty="0">
                <a:effectLst/>
                <a:latin typeface="Calibri" panose="020F0502020204030204" pitchFamily="34" charset="0"/>
                <a:ea typeface="標楷體" panose="03000509000000000000" pitchFamily="65" charset="-120"/>
                <a:cs typeface="Times New Roman" panose="02020603050405020304" pitchFamily="18" charset="0"/>
              </a:rPr>
              <a:t>分散</a:t>
            </a:r>
            <a:endParaRPr lang="en-US" altLang="zh-TW" sz="1800" b="1"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投資信託帳戶</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分散多家往來銀行，導致資產管理無法集中</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1" kern="100" dirty="0">
                <a:effectLst/>
                <a:latin typeface="Calibri" panose="020F0502020204030204" pitchFamily="34" charset="0"/>
                <a:ea typeface="標楷體" panose="03000509000000000000" pitchFamily="65" charset="-120"/>
                <a:cs typeface="Times New Roman" panose="02020603050405020304" pitchFamily="18" charset="0"/>
              </a:rPr>
              <a:t>服務喜好</a:t>
            </a:r>
            <a:endParaRPr lang="en-US" altLang="zh-TW" sz="1800" b="1"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1" kern="100" dirty="0">
                <a:effectLst/>
                <a:latin typeface="Calibri" panose="020F0502020204030204" pitchFamily="34" charset="0"/>
                <a:ea typeface="標楷體" panose="03000509000000000000" pitchFamily="65" charset="-120"/>
                <a:cs typeface="Times New Roman" panose="02020603050405020304" pitchFamily="18" charset="0"/>
              </a:rPr>
              <a:t>改變</a:t>
            </a:r>
            <a:endParaRPr lang="en-US" altLang="zh-TW" sz="1800" b="1"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其他銀行服務不再適合，</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希望嘗試</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永豐銀行理財</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理財進度「攜」著</a:t>
            </a:r>
            <a:r>
              <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rPr>
              <a:t> GO</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kumimoji="1" lang="zh-TW" altLang="en-US" sz="4400" dirty="0"/>
              <a:t>退休信託帳戶可攜注意事項</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b="0"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37794767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u="none" kern="100" dirty="0">
                <a:effectLst/>
                <a:latin typeface="Calibri" panose="020F0502020204030204" pitchFamily="34" charset="0"/>
                <a:ea typeface="標楷體" panose="03000509000000000000" pitchFamily="65" charset="-120"/>
                <a:cs typeface="Times New Roman" panose="02020603050405020304" pitchFamily="18" charset="0"/>
              </a:rPr>
              <a:t>「退休信託帳戶可攜」注意事項</a:t>
            </a:r>
            <a:endParaRPr lang="en-US" altLang="zh-TW" sz="1800" b="0" u="none"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退休信託帳戶可攜方案係指讓客戶透過特定金錢信託方式，委託永豐銀行依指定之投資金額及扣款日期，以每月定時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定額的投資方式購買永豐銀行選定之「退休可攜基金」，並提供客戶可攜服務即得申請撥轉基金受益憑證單位數至新受託機構。</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本商品執行期間暫訂至</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2025</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年</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12</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月</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31</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日止，客戶得於前列期間內向永豐銀行申請撥轉退休可攜基金至新受託機構。期滿若繼續提供可攜服務，客戶同意悉依永豐銀行網站公告為憑。期滿若永豐銀行如認為有必要調整各項服務時，永豐銀行應於調整</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60</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日前於網站公告內容以代通知，惟該項調整有利於客戶時，不在此限。</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「退休可攜基金」以投資國內新臺幣計價累積級別之證券投資信託基金為限，且依</a:t>
            </a:r>
            <a:r>
              <a:rPr lang="zh-TW" altLang="zh-TW" sz="1800" b="0" kern="0" dirty="0">
                <a:effectLst/>
                <a:latin typeface="Calibri" panose="020F0502020204030204" pitchFamily="34" charset="0"/>
                <a:ea typeface="標楷體" panose="03000509000000000000" pitchFamily="65" charset="-120"/>
                <a:cs typeface="Segoe UI" panose="020B0502040204020203" pitchFamily="34" charset="0"/>
              </a:rPr>
              <a:t>投信公司提供實際可接受移轉之標的；客戶得申請撥轉之標的，以金融受託機構得受理及執行者為限。</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可攜服務撥轉事項說明：</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限攜入</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攜出信託帳戶為同一人，且應為可撥轉之受益憑證。</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arenBoth"/>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客戶可申請撥轉至新受託機構之基金受益憑證單位數，限於簽訂「信託帳戶退休可攜契約條款」後，以每月定時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定額投資方式新增購買之「退休可攜基金」。</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AutoNum type="arabicParenBoth" startAt="2"/>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永豐銀行不保證依客戶申請即得進行撥轉，如因新受託機構無法受理，永豐銀行將拒絕客戶申請之全部</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一部分；就無法撥轉之標的將恢復扣款投資。</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AutoNum type="arabicParenBoth" startAt="4"/>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永豐銀行依客戶申請撥轉「退休可攜基金」受益憑證單位數至新受託機構後，是否得續行投資及相關交易規則，應依客戶與新受託機構間相關契約約定辦理。</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startAt="5"/>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退休可攜基金」交易相關費用包含申購手續費、轉換手續費與信託管理費，分別將於基金轉換、贖回或攜出時收取。此外，「退休可攜基金」不論係自他行攜入或攜出永豐銀行，永豐銀行均不另收取「攜入手續費」或「攜出手續費」。</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indent="-342900">
              <a:buFont typeface="+mj-lt"/>
              <a:buAutoNum type="arabicPeriod" startAt="5"/>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客戶申請「退休可攜基金」之受益憑證單位數撥轉至他行</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即攜出永豐銀行</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，其信託管理費收取，將以每筆信託本金，分別依其實際持有期間</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計算至申請日次月</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20</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號，若</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20</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號為非營業日則計算至前一營業日</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，乘以年費率</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0.2%</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計算，並於撥轉交易完成後，由永豐銀行自與客戶約定之新臺幣帳戶辦理扣收</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額外一次收取</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startAt="5"/>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其餘相關內容請詳閱「退休帳戶可攜約定條款」</a:t>
            </a: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23832114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b="0" dirty="0">
                <a:effectLst/>
                <a:ea typeface="標楷體" panose="03000509000000000000" pitchFamily="65" charset="-120"/>
                <a:cs typeface="Times New Roman" panose="02020603050405020304" pitchFamily="18" charset="0"/>
              </a:rPr>
              <a:t>獨家優勢</a:t>
            </a:r>
            <a:endParaRPr lang="en-US" altLang="zh-TW" sz="1800" b="0" dirty="0">
              <a:effectLst/>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en-US"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退休信託帳戶可攜</a:t>
            </a:r>
            <a:r>
              <a:rPr lang="zh-TW" altLang="en-US"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投資首選永豐！</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1" dirty="0">
                <a:effectLst/>
                <a:ea typeface="標楷體" panose="03000509000000000000" pitchFamily="65" charset="-120"/>
                <a:cs typeface="Times New Roman" panose="02020603050405020304" pitchFamily="18" charset="0"/>
              </a:rPr>
              <a:t>線上啟動投資，數位行</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投資「退休可攜基金」庫存帶著走，便利攜入</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攜出參與退休可攜計畫之國內銀行，</a:t>
            </a:r>
            <a:r>
              <a:rPr lang="zh-TW" altLang="zh-TW" sz="1800" b="0" kern="100" dirty="0">
                <a:effectLst/>
                <a:highlight>
                  <a:srgbClr val="FFFF00"/>
                </a:highlight>
                <a:latin typeface="Calibri" panose="020F0502020204030204" pitchFamily="34" charset="0"/>
                <a:ea typeface="標楷體" panose="03000509000000000000" pitchFamily="65" charset="-120"/>
                <a:cs typeface="Times New Roman" panose="02020603050405020304" pitchFamily="18" charset="0"/>
              </a:rPr>
              <a:t>於永豐線上集中管理基金庫存</a:t>
            </a:r>
            <a:r>
              <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rPr>
              <a:t>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r>
              <a:rPr lang="zh-TW" altLang="zh-TW" sz="1800" b="1" dirty="0">
                <a:effectLst/>
                <a:ea typeface="標楷體" panose="03000509000000000000" pitchFamily="65" charset="-120"/>
                <a:cs typeface="Times New Roman" panose="02020603050405020304" pitchFamily="18" charset="0"/>
              </a:rPr>
              <a:t>擇日自動扣款，方便選</a:t>
            </a:r>
            <a:endParaRPr lang="en-US" altLang="zh-TW" sz="1800" b="1" dirty="0">
              <a:effectLst/>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退休可攜基金可透過日日扣款分散投資，自選每月扣款次數</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日期，不需花過多時間研究投資進場時機，用最省時省力方式賺取合理報酬。</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1" dirty="0">
                <a:effectLst/>
                <a:ea typeface="標楷體" panose="03000509000000000000" pitchFamily="65" charset="-120"/>
                <a:cs typeface="Times New Roman" panose="02020603050405020304" pitchFamily="18" charset="0"/>
              </a:rPr>
              <a:t>定時</a:t>
            </a:r>
            <a:r>
              <a:rPr lang="en-US" altLang="zh-TW" sz="1800" b="1" dirty="0">
                <a:effectLst/>
                <a:ea typeface="標楷體" panose="03000509000000000000" pitchFamily="65" charset="-120"/>
                <a:cs typeface="Times New Roman" panose="02020603050405020304" pitchFamily="18" charset="0"/>
              </a:rPr>
              <a:t>(</a:t>
            </a:r>
            <a:r>
              <a:rPr lang="zh-TW" altLang="zh-TW" sz="1800" b="1" dirty="0">
                <a:effectLst/>
                <a:ea typeface="標楷體" panose="03000509000000000000" pitchFamily="65" charset="-120"/>
                <a:cs typeface="Times New Roman" panose="02020603050405020304" pitchFamily="18" charset="0"/>
              </a:rPr>
              <a:t>不</a:t>
            </a:r>
            <a:r>
              <a:rPr lang="en-US" altLang="zh-TW" sz="1800" b="1" dirty="0">
                <a:effectLst/>
                <a:ea typeface="標楷體" panose="03000509000000000000" pitchFamily="65" charset="-120"/>
                <a:cs typeface="Times New Roman" panose="02020603050405020304" pitchFamily="18" charset="0"/>
              </a:rPr>
              <a:t>)</a:t>
            </a:r>
            <a:r>
              <a:rPr lang="zh-TW" altLang="zh-TW" sz="1800" b="1" dirty="0">
                <a:effectLst/>
                <a:ea typeface="標楷體" panose="03000509000000000000" pitchFamily="65" charset="-120"/>
                <a:cs typeface="Times New Roman" panose="02020603050405020304" pitchFamily="18" charset="0"/>
              </a:rPr>
              <a:t>定額，個性投</a:t>
            </a:r>
            <a:endParaRPr lang="en-US" altLang="zh-TW" sz="1800" b="1" dirty="0">
              <a:effectLst/>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0" dirty="0">
                <a:effectLst/>
                <a:ea typeface="標楷體" panose="03000509000000000000" pitchFamily="65" charset="-120"/>
                <a:cs typeface="Times New Roman" panose="02020603050405020304" pitchFamily="18" charset="0"/>
              </a:rPr>
              <a:t>適合薪資月領上班族，可自行設定不同漲跌幅度下，約定加減</a:t>
            </a:r>
            <a:r>
              <a:rPr lang="en-US" altLang="zh-TW" sz="1800" b="0" dirty="0">
                <a:effectLst/>
                <a:ea typeface="標楷體" panose="03000509000000000000" pitchFamily="65" charset="-120"/>
                <a:cs typeface="Times New Roman" panose="02020603050405020304" pitchFamily="18" charset="0"/>
              </a:rPr>
              <a:t>/</a:t>
            </a:r>
            <a:r>
              <a:rPr lang="zh-TW" altLang="zh-TW" sz="1800" b="0" dirty="0">
                <a:effectLst/>
                <a:ea typeface="標楷體" panose="03000509000000000000" pitchFamily="65" charset="-120"/>
                <a:cs typeface="Times New Roman" panose="02020603050405020304" pitchFamily="18" charset="0"/>
              </a:rPr>
              <a:t>碼扣款之金額，減少盯盤時間。</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b="0"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23099593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b="1" dirty="0">
                <a:effectLst/>
                <a:ea typeface="標楷體" panose="03000509000000000000" pitchFamily="65" charset="-120"/>
                <a:cs typeface="Times New Roman" panose="02020603050405020304" pitchFamily="18" charset="0"/>
              </a:rPr>
              <a:t>快速啟用</a:t>
            </a:r>
            <a:endParaRPr lang="en-US" altLang="zh-TW" sz="1800" b="1" dirty="0">
              <a:effectLst/>
              <a:ea typeface="標楷體" panose="03000509000000000000" pitchFamily="65" charset="-120"/>
              <a:cs typeface="Times New Roman" panose="02020603050405020304" pitchFamily="18" charset="0"/>
            </a:endParaRPr>
          </a:p>
          <a:p>
            <a:r>
              <a:rPr lang="zh-TW" altLang="zh-TW" sz="1800" b="0" dirty="0">
                <a:effectLst/>
                <a:ea typeface="標楷體" panose="03000509000000000000" pitchFamily="65" charset="-120"/>
                <a:cs typeface="Times New Roman" panose="02020603050405020304" pitchFamily="18" charset="0"/>
              </a:rPr>
              <a:t>加入可攜最重要，從容啟用輕巧投資模式</a:t>
            </a:r>
            <a:endParaRPr lang="en-US" altLang="zh-TW" sz="1800" b="0" dirty="0">
              <a:effectLst/>
              <a:ea typeface="標楷體" panose="03000509000000000000" pitchFamily="65" charset="-120"/>
              <a:cs typeface="Times New Roman" panose="02020603050405020304" pitchFamily="18" charset="0"/>
            </a:endParaRPr>
          </a:p>
          <a:p>
            <a:r>
              <a:rPr lang="zh-TW" altLang="zh-TW" sz="1800" b="1" dirty="0">
                <a:effectLst/>
                <a:ea typeface="標楷體" panose="03000509000000000000" pitchFamily="65" charset="-120"/>
                <a:cs typeface="Times New Roman" panose="02020603050405020304" pitchFamily="18" charset="0"/>
              </a:rPr>
              <a:t>非</a:t>
            </a:r>
            <a:r>
              <a:rPr lang="zh-TW" altLang="en-US" sz="1800" b="1" dirty="0">
                <a:effectLst/>
                <a:ea typeface="標楷體" panose="03000509000000000000" pitchFamily="65" charset="-120"/>
                <a:cs typeface="Times New Roman" panose="02020603050405020304" pitchFamily="18" charset="0"/>
              </a:rPr>
              <a:t>本行</a:t>
            </a:r>
            <a:r>
              <a:rPr lang="zh-TW" altLang="zh-TW" sz="1800" b="1" dirty="0">
                <a:effectLst/>
                <a:ea typeface="標楷體" panose="03000509000000000000" pitchFamily="65" charset="-120"/>
                <a:cs typeface="Times New Roman" panose="02020603050405020304" pitchFamily="18" charset="0"/>
              </a:rPr>
              <a:t>客戶攜入庫存</a:t>
            </a:r>
            <a:endParaRPr lang="en-US" altLang="zh-TW" sz="1800" b="1" dirty="0">
              <a:effectLst/>
              <a:ea typeface="標楷體" panose="03000509000000000000" pitchFamily="65" charset="-120"/>
              <a:cs typeface="Times New Roman" panose="02020603050405020304" pitchFamily="18" charset="0"/>
            </a:endParaRPr>
          </a:p>
          <a:p>
            <a:r>
              <a:rPr lang="zh-TW" altLang="en-US" sz="1800" b="1" dirty="0">
                <a:effectLst/>
                <a:ea typeface="標楷體" panose="03000509000000000000" pitchFamily="65" charset="-120"/>
                <a:cs typeface="Times New Roman" panose="02020603050405020304" pitchFamily="18" charset="0"/>
              </a:rPr>
              <a:t>本行</a:t>
            </a:r>
            <a:r>
              <a:rPr lang="zh-TW" altLang="zh-TW" sz="1800" b="1" dirty="0">
                <a:effectLst/>
                <a:ea typeface="標楷體" panose="03000509000000000000" pitchFamily="65" charset="-120"/>
                <a:cs typeface="Times New Roman" panose="02020603050405020304" pitchFamily="18" charset="0"/>
              </a:rPr>
              <a:t>客戶申購基金</a:t>
            </a:r>
            <a:endParaRPr lang="en-US" altLang="zh-TW" sz="1800" b="1" dirty="0">
              <a:effectLst/>
              <a:ea typeface="標楷體" panose="03000509000000000000" pitchFamily="65" charset="-120"/>
              <a:cs typeface="Times New Roman" panose="02020603050405020304" pitchFamily="18" charset="0"/>
            </a:endParaRPr>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39963342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31023617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zh-TW" sz="1800" b="1" dirty="0">
                <a:effectLst/>
                <a:ea typeface="標楷體" panose="03000509000000000000" pitchFamily="65" charset="-120"/>
                <a:cs typeface="Times New Roman" panose="02020603050405020304" pitchFamily="18" charset="0"/>
              </a:rPr>
              <a:t>帳戶優惠</a:t>
            </a:r>
            <a:endParaRPr lang="en-US" altLang="zh-TW" sz="1800" b="1" dirty="0">
              <a:effectLst/>
              <a:ea typeface="標楷體" panose="03000509000000000000" pitchFamily="65"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b="1" kern="100" dirty="0">
                <a:effectLst/>
                <a:latin typeface="Calibri" panose="020F0502020204030204" pitchFamily="34" charset="0"/>
                <a:ea typeface="標楷體" panose="03000509000000000000" pitchFamily="65" charset="-120"/>
                <a:cs typeface="Times New Roman" panose="02020603050405020304" pitchFamily="18" charset="0"/>
              </a:rPr>
              <a:t>歡迎加入退休信託帳戶可攜服務</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即日起至 </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2024</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年</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12</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月</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31</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日符合資格者 享終身手續費優惠！</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自他行攜入受益憑證至永豐銀行，並於永豐銀行設定持續定時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定額扣款成功者，享新臺幣</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10,000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含</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元以下</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「退休可攜基金」定時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定額申購</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 0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元</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手續費終身優惠！</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優惠方案注意事項</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103085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90000"/>
              </a:lnSpc>
              <a:spcBef>
                <a:spcPct val="30000"/>
              </a:spcBef>
              <a:spcAft>
                <a:spcPct val="0"/>
              </a:spcAft>
              <a:buClrTx/>
              <a:buSzTx/>
              <a:buFontTx/>
              <a:buNone/>
              <a:tabLst/>
              <a:defRPr/>
            </a:pPr>
            <a:r>
              <a:rPr lang="zh-TW" altLang="zh-TW" sz="1800" kern="100" dirty="0">
                <a:effectLst/>
                <a:latin typeface="Calibri" panose="020F0502020204030204" pitchFamily="34" charset="0"/>
                <a:ea typeface="標楷體" panose="03000509000000000000" pitchFamily="65" charset="-120"/>
                <a:cs typeface="Times New Roman" panose="02020603050405020304" pitchFamily="18" charset="0"/>
              </a:rPr>
              <a:t>優惠方案注意事項</a:t>
            </a:r>
            <a:endParaRPr lang="en-US" altLang="zh-TW" sz="180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方案期間：自即日起至 </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2024</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年</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12</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月</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31</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日。</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優惠內容及資格條件：</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優惠對象</a:t>
            </a:r>
            <a:r>
              <a:rPr lang="zh-TW" altLang="en-US"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於活動期間內自他行攜入「退休可攜基金」受益憑證至永豐銀行，於永豐銀行設定恢復定時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定額並成功扣款者，即可享有手續費優惠。</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優惠標的：定時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定額申購永豐銀行「退休可攜基金」</a:t>
            </a:r>
            <a:r>
              <a:rPr lang="zh-TW" altLang="en-US" sz="1800" b="0" kern="100" dirty="0">
                <a:effectLst/>
                <a:latin typeface="Calibri" panose="020F0502020204030204" pitchFamily="34" charset="0"/>
                <a:ea typeface="標楷體" panose="03000509000000000000" pitchFamily="65" charset="-120"/>
                <a:cs typeface="Times New Roman" panose="02020603050405020304" pitchFamily="18" charset="0"/>
              </a:rPr>
              <a:t>。</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手續費優惠期限：若客戶無「終止定時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定額扣款」或「轉換基金受益憑證」，即得一直享有優惠。</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優惠計算方式依當次扣款金額逐筆判斷適用之優惠手續費率如下：</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定額單次扣款金額新臺幣</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 10,000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含</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元以下，全額享申購手續費</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 0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元。</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285750" marR="0" lvl="0" indent="-285750" algn="l" defTabSz="914400" rtl="0" eaLnBrk="0" fontAlgn="base" latinLnBrk="0" hangingPunct="0">
              <a:lnSpc>
                <a:spcPct val="90000"/>
              </a:lnSpc>
              <a:spcBef>
                <a:spcPct val="30000"/>
              </a:spcBef>
              <a:spcAft>
                <a:spcPct val="0"/>
              </a:spcAft>
              <a:buClrTx/>
              <a:buSzTx/>
              <a:buFont typeface="Arial" panose="020B0604020202020204" pitchFamily="34" charset="0"/>
              <a:buChar char="•"/>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定額單次扣款金額超過新臺幣</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 10,000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元，全額享牌告申購手續費</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 38 </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折。</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第一次委託扣款成功後，後續有扣款失敗連續達三次，永豐銀行將會暫停扣款，然此不會影響客戶享有本優惠權益，客戶於恢復正常扣款時，將得繼續享有本優惠；如客戶係自行設定暫停定時</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不</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定額扣款者，亦同。</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客戶如有「部份贖回」受益憑證或「全部贖回但原受益憑證持續扣款」之情形者，仍得繼續享有本優惠。</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lang="zh-TW" altLang="zh-TW" sz="1800" b="0" dirty="0">
                <a:effectLst/>
                <a:ea typeface="標楷體" panose="03000509000000000000" pitchFamily="65" charset="-120"/>
                <a:cs typeface="Times New Roman" panose="02020603050405020304" pitchFamily="18" charset="0"/>
              </a:rPr>
              <a:t>客戶如「終止定時</a:t>
            </a:r>
            <a:r>
              <a:rPr lang="en-US" altLang="zh-TW" sz="1800" b="0" dirty="0">
                <a:effectLst/>
                <a:ea typeface="標楷體" panose="03000509000000000000" pitchFamily="65" charset="-120"/>
                <a:cs typeface="Times New Roman" panose="02020603050405020304" pitchFamily="18" charset="0"/>
              </a:rPr>
              <a:t>(</a:t>
            </a:r>
            <a:r>
              <a:rPr lang="zh-TW" altLang="zh-TW" sz="1800" b="0" dirty="0">
                <a:effectLst/>
                <a:ea typeface="標楷體" panose="03000509000000000000" pitchFamily="65" charset="-120"/>
                <a:cs typeface="Times New Roman" panose="02020603050405020304" pitchFamily="18" charset="0"/>
              </a:rPr>
              <a:t>不</a:t>
            </a:r>
            <a:r>
              <a:rPr lang="en-US" altLang="zh-TW" sz="1800" b="0" dirty="0">
                <a:effectLst/>
                <a:ea typeface="標楷體" panose="03000509000000000000" pitchFamily="65" charset="-120"/>
                <a:cs typeface="Times New Roman" panose="02020603050405020304" pitchFamily="18" charset="0"/>
              </a:rPr>
              <a:t>)</a:t>
            </a:r>
            <a:r>
              <a:rPr lang="zh-TW" altLang="zh-TW" sz="1800" b="0" dirty="0">
                <a:effectLst/>
                <a:ea typeface="標楷體" panose="03000509000000000000" pitchFamily="65" charset="-120"/>
                <a:cs typeface="Times New Roman" panose="02020603050405020304" pitchFamily="18" charset="0"/>
              </a:rPr>
              <a:t>定額扣款」或「轉換基金憑證」，於終止或轉換後，將不再享有本優惠。</a:t>
            </a:r>
            <a:endParaRPr lang="en-US" altLang="zh-TW" sz="1800" b="0" dirty="0">
              <a:effectLst/>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lang="zh-TW" altLang="zh-TW" sz="1800" b="0" dirty="0">
                <a:effectLst/>
                <a:ea typeface="標楷體" panose="03000509000000000000" pitchFamily="65" charset="-120"/>
                <a:cs typeface="Times New Roman" panose="02020603050405020304" pitchFamily="18" charset="0"/>
              </a:rPr>
              <a:t>客戶於受益憑證持有期間變更定時</a:t>
            </a:r>
            <a:r>
              <a:rPr lang="en-US" altLang="zh-TW" sz="1800" b="0" dirty="0">
                <a:effectLst/>
                <a:ea typeface="標楷體" panose="03000509000000000000" pitchFamily="65" charset="-120"/>
                <a:cs typeface="Times New Roman" panose="02020603050405020304" pitchFamily="18" charset="0"/>
              </a:rPr>
              <a:t>(</a:t>
            </a:r>
            <a:r>
              <a:rPr lang="zh-TW" altLang="zh-TW" sz="1800" b="0" dirty="0">
                <a:effectLst/>
                <a:ea typeface="標楷體" panose="03000509000000000000" pitchFamily="65" charset="-120"/>
                <a:cs typeface="Times New Roman" panose="02020603050405020304" pitchFamily="18" charset="0"/>
              </a:rPr>
              <a:t>不</a:t>
            </a:r>
            <a:r>
              <a:rPr lang="en-US" altLang="zh-TW" sz="1800" b="0" dirty="0">
                <a:effectLst/>
                <a:ea typeface="標楷體" panose="03000509000000000000" pitchFamily="65" charset="-120"/>
                <a:cs typeface="Times New Roman" panose="02020603050405020304" pitchFamily="18" charset="0"/>
              </a:rPr>
              <a:t>)</a:t>
            </a:r>
            <a:r>
              <a:rPr lang="zh-TW" altLang="zh-TW" sz="1800" b="0" dirty="0">
                <a:effectLst/>
                <a:ea typeface="標楷體" panose="03000509000000000000" pitchFamily="65" charset="-120"/>
                <a:cs typeface="Times New Roman" panose="02020603050405020304" pitchFamily="18" charset="0"/>
              </a:rPr>
              <a:t>定額之扣款帳戶，若變更扣款帳戶後仍有持續扣款者，不影響原所享有之優惠權益。</a:t>
            </a:r>
            <a:endParaRPr lang="en-US" altLang="zh-TW" sz="1800" b="0" dirty="0">
              <a:effectLst/>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本行保留變更、解釋及終止各項優惠與服務內容之最終權利；各項優惠與服務內容如遇變動或更新時，將依本行官方網站</a:t>
            </a:r>
            <a:r>
              <a:rPr lang="zh-TW" altLang="en-US" sz="1800" b="0" kern="100" dirty="0">
                <a:effectLst/>
                <a:latin typeface="Calibri" panose="020F0502020204030204" pitchFamily="34" charset="0"/>
                <a:ea typeface="標楷體" panose="03000509000000000000" pitchFamily="65" charset="-120"/>
                <a:cs typeface="Times New Roman" panose="02020603050405020304" pitchFamily="18" charset="0"/>
              </a:rPr>
              <a:t>最新公告</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為主，恕不另行通知。</a:t>
            </a:r>
            <a:endPar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同時間有相同費率折數專案在進行時以本行系統判斷為主。</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startAt="3"/>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arenBoth"/>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 typeface="+mj-lt"/>
              <a:buNone/>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marR="0" lvl="0" indent="-342900" algn="l" defTabSz="914400" rtl="0" eaLnBrk="0" fontAlgn="base" latinLnBrk="0" hangingPunct="0">
              <a:lnSpc>
                <a:spcPct val="90000"/>
              </a:lnSpc>
              <a:spcBef>
                <a:spcPct val="30000"/>
              </a:spcBef>
              <a:spcAft>
                <a:spcPct val="0"/>
              </a:spcAft>
              <a:buClrTx/>
              <a:buSzTx/>
              <a:buFont typeface="+mj-lt"/>
              <a:buAutoNum type="arabicPeriod"/>
              <a:tabLst/>
              <a:defRPr/>
            </a:pP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0" marR="0" lvl="0" indent="0" algn="l" defTabSz="914400" rtl="0" eaLnBrk="0" fontAlgn="base" latinLnBrk="0" hangingPunct="0">
              <a:lnSpc>
                <a:spcPct val="90000"/>
              </a:lnSpc>
              <a:spcBef>
                <a:spcPct val="30000"/>
              </a:spcBef>
              <a:spcAft>
                <a:spcPct val="0"/>
              </a:spcAft>
              <a:buClrTx/>
              <a:buSzTx/>
              <a:buFontTx/>
              <a:buNone/>
              <a:tabLst/>
              <a:defRPr/>
            </a:pP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24241627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800" kern="100" dirty="0">
                <a:effectLst/>
                <a:latin typeface="標楷體" panose="03000509000000000000" pitchFamily="65" charset="-120"/>
                <a:ea typeface="新細明體" panose="02020500000000000000" pitchFamily="18" charset="-120"/>
                <a:cs typeface="Times New Roman" panose="02020603050405020304" pitchFamily="18" charset="0"/>
              </a:rPr>
              <a:t>投資警語</a:t>
            </a:r>
            <a:endParaRPr lang="en-US" altLang="zh-TW" sz="1800" kern="100" dirty="0">
              <a:effectLst/>
              <a:latin typeface="標楷體" panose="03000509000000000000" pitchFamily="65" charset="-12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信託財產應依「永豐商業銀行辦理特定金錢信託受託投資申請書」（以下簡稱「投資申請書」，且以永豐銀行所提供或規定之格式為限）或其他約定方式所載並經永豐銀行同意收受之信託資金為限，嗣後因管理、處分、滅失、毀損或其他事由取得之財產權亦屬之。</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前項信託資金之種類、名稱、數量及價額，應符合相關法令及永豐銀行有關最低金額、幣別等之規定。</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客戶逐次填具相關之「投資申請書」或以雙方同意之方式指定投資標的，且須經永豐銀行同意後辦理。</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「信託資金」係指委託人為具體特定之運用指示受託人投資國內外標的而交付之信託款項，不同於委託人之存款，並不受存款保險條例、保險安定基金或其他保障機制之保障範圍。</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基金並非存款，受託人除應盡善良管理人之注意義務外，並不保證本信託資金盈虧及最低收益。委託人投資標的及投資地區可能產生之風險，包括但不限於類股過度集中風險、產業景氣循環風險、流動性風險、市場風險（投資地區政治及經濟變動、外匯管制及匯率變動、社會變動、利率、股價、指數或其他標的資產價格波動）、信用風險、投資結構式商品之風險、證券相關商品交易及其他投資標的或特定投資策略等風險。因上述風險致客戶大量贖回或基金暫停計算贖回價格等因素，或有延遲給付贖回價金之可能，委託人皆不得以任何理由要求受託人分擔損失。</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部分基金公司為保護投資人權益，設有公平價格調整機制或反稀釋機制。當市場發生高波動或低流通性事件，或基金經理人需買賣有價證券以因應投資人大量申購或贖回；為保護持有該基金投資人之權益，基金公司將啟動公平價格調整機制或反稀釋機制，對基金淨值進行調整，調整幅度將依各基金公司的規定而有不同。</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非投資等級債券基金（本基金配息來源可能為本金） 雖經金融監督管理委員會（以下稱金管會）核准，惟不表示絕無風險。由於非投資等級債券之信用評等未達投資等級或未經信用評等，且對利率變動的敏感度甚高，故基金可能會因利率上升、市場流動性下 降，或債券發行機構違約不支付本金、利息或破產而蒙受虧損，投資人應審慎評估。非投資等級債券基金不適合無法承擔相關風險之投資人，較適合投資屬性為穩健型等級以上之投資人，且以非投資等級債券為訴求之基金不宜占其投資組合過高之比重。非投資等級債券基金可能投資美國</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144A</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債券，該債券屬私募性質，易發生流動性不足，財務訊息揭露不完整或價格不透明導致高波動性之風險。</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投資新興市場，可能比投資已開發國家有較大之價格波動及流動性較低之風險，委託人應慎選投資標的。</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於中國之基金應依中華民國相關法令之規定，境外基金投資大陸地區證券市場之有價證券占該境外基金總投資之比率不得超過金管會所訂定之比率；國內投信基金投資大陸地區有價證券雖可包括其集中交易市場交易之股票、存託憑證或符合一定信用評等之債券等，且法令並無限制投資總金額比例，惟仍應符合信託契約、基金公開說明書、證券投資信託基金管理辦法等相關規定，同時須受基金公司</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QFII(</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合格境外機構投資者</a:t>
            </a:r>
            <a:r>
              <a:rPr lang="en-US"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a:t>
            </a: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額度之限制。另投資人申購時應留意中國市場政府政策、法令與會計稅務制度、經濟與相關市場變動所可能衍生之投資風險。</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委託人在申購前，應確實詳閱各信託契約、風險預告、基金公開說明書及投資人須知；並瞭解可能產生之風險，其中最大可能損失為損失所有本金及可能之配息。委託人因投資時間不同，投資績效表現亦有差異，過往之績效並不代表未來投資績效表現之保證。基金雖經金管會核准或同意生效，惟不表示絕無風險。基金經理公司以往之績效亦不保證經理基金之最低投資收益，基金經理公司除盡善良管理人之注意義務外，不負責基金之盈虧。本行受託投資之基金，已備妥基金公開說明書或投資人須知，委託人可至受託人營業處所索取或至基金公司網站或基金資訊觀測站下載。</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基金總報酬率包含淨值報酬率與配息率，基金配息率並不等同基金報酬率，且過去配息率亦不代表未來配息率；基金淨值除可能因市場因素而上下波動外，尚可能因配息政策而有所變動。</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投資人辦理特定金錢信託業務時，需瞭解並同意受託人可能得自交易對手之任何費用，均係作為受託人收取之信託報酬。</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有關境內外基金應負擔之費用（含分銷費用）已揭露於基金之公開說明書及投資人須知中，投資人可至基金公司網站或基金資訊觀測站查詢。</a:t>
            </a:r>
            <a:endParaRPr lang="en-US"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pPr marL="342900" indent="-342900">
              <a:buFont typeface="+mj-lt"/>
              <a:buAutoNum type="arabicPeriod"/>
            </a:pPr>
            <a:r>
              <a:rPr lang="zh-TW" altLang="zh-TW" sz="1800" b="0" kern="100" dirty="0">
                <a:effectLst/>
                <a:latin typeface="Calibri" panose="020F0502020204030204" pitchFamily="34" charset="0"/>
                <a:ea typeface="標楷體" panose="03000509000000000000" pitchFamily="65" charset="-120"/>
                <a:cs typeface="Times New Roman" panose="02020603050405020304" pitchFamily="18" charset="0"/>
              </a:rPr>
              <a:t>本風險揭露及預告僅列舉重要部分，無法對於所有基金投資風險及影響市場因素全部詳述。委託人於投資前須詳加研讀本風險揭露及預告，確實做好財務規劃與風險評估，並應審慎詳閱本行受託投資各基金所備之公開說明書及投資人須知，以免遭受難以承擔之損失。</a:t>
            </a:r>
            <a:endParaRPr lang="zh-TW" altLang="zh-TW" sz="1800" b="0" kern="100" dirty="0">
              <a:effectLst/>
              <a:latin typeface="Calibri" panose="020F0502020204030204" pitchFamily="34" charset="0"/>
              <a:ea typeface="新細明體" panose="02020500000000000000" pitchFamily="18" charset="-120"/>
              <a:cs typeface="Times New Roman" panose="02020603050405020304" pitchFamily="18" charset="0"/>
            </a:endParaRPr>
          </a:p>
          <a:p>
            <a:endParaRPr lang="zh-TW" altLang="en-US" dirty="0"/>
          </a:p>
        </p:txBody>
      </p:sp>
      <p:sp>
        <p:nvSpPr>
          <p:cNvPr id="4" name="頁尾版面配置區 3"/>
          <p:cNvSpPr>
            <a:spLocks noGrp="1"/>
          </p:cNvSpPr>
          <p:nvPr>
            <p:ph type="ftr" sz="quarter" idx="4"/>
          </p:nvPr>
        </p:nvSpPr>
        <p:spPr/>
        <p:txBody>
          <a:bodyPr/>
          <a:lstStyle/>
          <a:p>
            <a:pPr>
              <a:defRPr/>
            </a:pPr>
            <a:r>
              <a:rPr lang="en-US" altLang="zh-TW"/>
              <a:t>20060726 STCv1</a:t>
            </a:r>
            <a:endParaRPr lang="zh-TW" altLang="en-US"/>
          </a:p>
        </p:txBody>
      </p:sp>
    </p:spTree>
    <p:extLst>
      <p:ext uri="{BB962C8B-B14F-4D97-AF65-F5344CB8AC3E}">
        <p14:creationId xmlns:p14="http://schemas.microsoft.com/office/powerpoint/2010/main" val="26276012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標題投影片">
    <p:spTree>
      <p:nvGrpSpPr>
        <p:cNvPr id="1" name=""/>
        <p:cNvGrpSpPr/>
        <p:nvPr/>
      </p:nvGrpSpPr>
      <p:grpSpPr>
        <a:xfrm>
          <a:off x="0" y="0"/>
          <a:ext cx="0" cy="0"/>
          <a:chOff x="0" y="0"/>
          <a:chExt cx="0" cy="0"/>
        </a:xfrm>
      </p:grpSpPr>
      <p:grpSp>
        <p:nvGrpSpPr>
          <p:cNvPr id="5" name="McK Title Elements"/>
          <p:cNvGrpSpPr>
            <a:grpSpLocks/>
          </p:cNvGrpSpPr>
          <p:nvPr userDrawn="1"/>
        </p:nvGrpSpPr>
        <p:grpSpPr bwMode="auto">
          <a:xfrm>
            <a:off x="3520173" y="2139950"/>
            <a:ext cx="6703779" cy="4510088"/>
            <a:chOff x="1663" y="1348"/>
            <a:chExt cx="3167" cy="2841"/>
          </a:xfrm>
        </p:grpSpPr>
        <p:sp>
          <p:nvSpPr>
            <p:cNvPr id="6" name="McK Confidential" hidden="1"/>
            <p:cNvSpPr txBox="1">
              <a:spLocks noChangeArrowheads="1"/>
            </p:cNvSpPr>
            <p:nvPr userDrawn="1"/>
          </p:nvSpPr>
          <p:spPr bwMode="auto">
            <a:xfrm>
              <a:off x="1663" y="1348"/>
              <a:ext cx="936"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dirty="0">
                  <a:ea typeface="新細明體" charset="-120"/>
                </a:rPr>
                <a:t>CONFIDENTIAL</a:t>
              </a:r>
            </a:p>
          </p:txBody>
        </p:sp>
        <p:sp>
          <p:nvSpPr>
            <p:cNvPr id="7" name="McK Document" hidden="1"/>
            <p:cNvSpPr txBox="1">
              <a:spLocks noChangeArrowheads="1"/>
            </p:cNvSpPr>
            <p:nvPr userDrawn="1"/>
          </p:nvSpPr>
          <p:spPr bwMode="auto">
            <a:xfrm>
              <a:off x="1663" y="3047"/>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dirty="0">
                  <a:ea typeface="新細明體" charset="-120"/>
                </a:rPr>
                <a:t>Document</a:t>
              </a:r>
            </a:p>
          </p:txBody>
        </p:sp>
        <p:sp>
          <p:nvSpPr>
            <p:cNvPr id="8" name="McK Date" hidden="1"/>
            <p:cNvSpPr txBox="1">
              <a:spLocks noChangeArrowheads="1"/>
            </p:cNvSpPr>
            <p:nvPr userDrawn="1"/>
          </p:nvSpPr>
          <p:spPr bwMode="auto">
            <a:xfrm>
              <a:off x="1663" y="3216"/>
              <a:ext cx="3167"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00" b="0" dirty="0">
                  <a:ea typeface="新細明體" charset="-120"/>
                </a:rPr>
                <a:t>Date</a:t>
              </a:r>
            </a:p>
          </p:txBody>
        </p:sp>
        <p:sp>
          <p:nvSpPr>
            <p:cNvPr id="9" name="McK Disclaimer" hidden="1"/>
            <p:cNvSpPr>
              <a:spLocks noChangeArrowheads="1"/>
            </p:cNvSpPr>
            <p:nvPr userDrawn="1">
              <p:custDataLst>
                <p:tags r:id="rId1"/>
              </p:custDataLst>
            </p:nvPr>
          </p:nvSpPr>
          <p:spPr bwMode="auto">
            <a:xfrm>
              <a:off x="1663" y="3840"/>
              <a:ext cx="2303"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00" b="0" dirty="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11300" y="2970213"/>
            <a:ext cx="983023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079903" y="2259106"/>
            <a:ext cx="7996871" cy="703262"/>
          </a:xfrm>
          <a:prstGeom prst="rect">
            <a:avLst/>
          </a:prstGeom>
        </p:spPr>
        <p:txBody>
          <a:bodyPr anchor="ctr"/>
          <a:lstStyle>
            <a:lvl1pPr algn="ctr">
              <a:defRPr sz="360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066066" y="4400365"/>
            <a:ext cx="6372818" cy="548154"/>
          </a:xfrm>
          <a:prstGeom prst="rect">
            <a:avLst/>
          </a:prstGeom>
        </p:spPr>
        <p:txBody>
          <a:bodyPr anchor="ctr"/>
          <a:lstStyle>
            <a:lvl1pPr marL="0" indent="0" algn="ctr">
              <a:buNone/>
              <a:defRPr sz="28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20" name="文字版面配置區 3"/>
          <p:cNvSpPr>
            <a:spLocks noGrp="1"/>
          </p:cNvSpPr>
          <p:nvPr>
            <p:ph type="body" sz="half" idx="10"/>
          </p:nvPr>
        </p:nvSpPr>
        <p:spPr>
          <a:xfrm>
            <a:off x="3711555" y="5472955"/>
            <a:ext cx="5020457" cy="406681"/>
          </a:xfrm>
          <a:prstGeom prst="rect">
            <a:avLst/>
          </a:prstGeom>
        </p:spPr>
        <p:txBody>
          <a:bodyPr anchor="ctr"/>
          <a:lstStyle>
            <a:lvl1pPr marL="0" indent="0" algn="ctr">
              <a:buNone/>
              <a:defRPr sz="1600" b="1">
                <a:latin typeface="微軟正黑體" panose="020B0604030504040204" pitchFamily="34" charset="-120"/>
                <a:ea typeface="微軟正黑體" panose="020B0604030504040204" pitchFamily="34" charset="-120"/>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2" name="矩形 9">
            <a:extLst>
              <a:ext uri="{FF2B5EF4-FFF2-40B4-BE49-F238E27FC236}">
                <a16:creationId xmlns:a16="http://schemas.microsoft.com/office/drawing/2014/main" id="{C49153D8-EE6D-4D27-86FE-B38230D90C48}"/>
              </a:ext>
            </a:extLst>
          </p:cNvPr>
          <p:cNvSpPr>
            <a:spLocks noChangeArrowheads="1"/>
          </p:cNvSpPr>
          <p:nvPr userDrawn="1"/>
        </p:nvSpPr>
        <p:spPr bwMode="auto">
          <a:xfrm>
            <a:off x="16935" y="6470902"/>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1229A1A4-1A3F-439A-A3A5-B9989F49093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4852" y="293095"/>
            <a:ext cx="1785770" cy="556780"/>
          </a:xfrm>
          <a:prstGeom prst="rect">
            <a:avLst/>
          </a:prstGeom>
        </p:spPr>
      </p:pic>
    </p:spTree>
    <p:extLst>
      <p:ext uri="{BB962C8B-B14F-4D97-AF65-F5344CB8AC3E}">
        <p14:creationId xmlns:p14="http://schemas.microsoft.com/office/powerpoint/2010/main" val="3700806302"/>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只有標題">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333262729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標題及物件">
    <p:spTree>
      <p:nvGrpSpPr>
        <p:cNvPr id="1" name=""/>
        <p:cNvGrpSpPr/>
        <p:nvPr/>
      </p:nvGrpSpPr>
      <p:grpSpPr>
        <a:xfrm>
          <a:off x="0" y="0"/>
          <a:ext cx="0" cy="0"/>
          <a:chOff x="0" y="0"/>
          <a:chExt cx="0" cy="0"/>
        </a:xfrm>
      </p:grpSpPr>
      <p:sp>
        <p:nvSpPr>
          <p:cNvPr id="5" name="標題 1"/>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3" name="內容版面配置區 2"/>
          <p:cNvSpPr>
            <a:spLocks noGrp="1"/>
          </p:cNvSpPr>
          <p:nvPr>
            <p:ph sz="quarter" idx="10"/>
          </p:nvPr>
        </p:nvSpPr>
        <p:spPr>
          <a:xfrm>
            <a:off x="397951" y="889000"/>
            <a:ext cx="11110876" cy="5365750"/>
          </a:xfrm>
          <a:prstGeom prst="rect">
            <a:avLst/>
          </a:prstGeom>
        </p:spPr>
        <p:txBody>
          <a:bodyPr/>
          <a:lstStyle>
            <a:lvl1pPr>
              <a:spcBef>
                <a:spcPts val="0"/>
              </a:spcBef>
              <a:spcAft>
                <a:spcPts val="600"/>
              </a:spcAft>
              <a:defRPr sz="2400">
                <a:latin typeface="微軟正黑體" panose="020B0604030504040204" pitchFamily="34" charset="-120"/>
                <a:ea typeface="微軟正黑體" panose="020B0604030504040204" pitchFamily="34" charset="-120"/>
                <a:cs typeface="Arial" panose="020B0604020202020204" pitchFamily="34" charset="0"/>
              </a:defRPr>
            </a:lvl1pPr>
            <a:lvl2pPr marL="144463" indent="-142875">
              <a:spcBef>
                <a:spcPts val="0"/>
              </a:spcBef>
              <a:spcAft>
                <a:spcPts val="600"/>
              </a:spcAft>
              <a:buFont typeface="Wingdings" panose="05000000000000000000" pitchFamily="2" charset="2"/>
              <a:buChar char="n"/>
              <a:defRPr sz="2000">
                <a:latin typeface="微軟正黑體" panose="020B0604030504040204" pitchFamily="34" charset="-120"/>
                <a:ea typeface="微軟正黑體" panose="020B0604030504040204" pitchFamily="34" charset="-120"/>
                <a:cs typeface="Arial" panose="020B0604020202020204" pitchFamily="34" charset="0"/>
              </a:defRPr>
            </a:lvl2pPr>
            <a:lvl3pPr marL="295275" indent="-149225">
              <a:spcBef>
                <a:spcPts val="0"/>
              </a:spcBef>
              <a:spcAft>
                <a:spcPts val="600"/>
              </a:spcAft>
              <a:buFont typeface="Wingdings" panose="05000000000000000000" pitchFamily="2" charset="2"/>
              <a:buChar char="l"/>
              <a:defRPr sz="1800">
                <a:latin typeface="微軟正黑體" panose="020B0604030504040204" pitchFamily="34" charset="-120"/>
                <a:ea typeface="微軟正黑體" panose="020B0604030504040204" pitchFamily="34" charset="-120"/>
                <a:cs typeface="Arial" panose="020B0604020202020204" pitchFamily="34" charset="0"/>
              </a:defRPr>
            </a:lvl3pPr>
            <a:lvl4pPr marL="431800" indent="-134938">
              <a:spcBef>
                <a:spcPts val="0"/>
              </a:spcBef>
              <a:spcAft>
                <a:spcPts val="600"/>
              </a:spcAft>
              <a:buFont typeface="Wingdings" panose="05000000000000000000" pitchFamily="2" charset="2"/>
              <a:buChar char="u"/>
              <a:defRPr sz="1600">
                <a:latin typeface="微軟正黑體" panose="020B0604030504040204" pitchFamily="34" charset="-120"/>
                <a:ea typeface="微軟正黑體" panose="020B0604030504040204" pitchFamily="34" charset="-120"/>
                <a:cs typeface="Arial" panose="020B0604020202020204" pitchFamily="34" charset="0"/>
              </a:defRPr>
            </a:lvl4pPr>
            <a:lvl5pPr marL="582613" indent="-149225">
              <a:spcBef>
                <a:spcPts val="0"/>
              </a:spcBef>
              <a:spcAft>
                <a:spcPts val="600"/>
              </a:spcAft>
              <a:buFont typeface="Arial" panose="020B0604020202020204" pitchFamily="34" charset="0"/>
              <a:buChar char="•"/>
              <a:defRPr sz="1400">
                <a:latin typeface="微軟正黑體" panose="020B0604030504040204" pitchFamily="34" charset="-120"/>
                <a:ea typeface="微軟正黑體" panose="020B0604030504040204" pitchFamily="34" charset="-120"/>
                <a:cs typeface="Arial" panose="020B0604020202020204" pitchFamily="34" charset="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Tree>
    <p:extLst>
      <p:ext uri="{BB962C8B-B14F-4D97-AF65-F5344CB8AC3E}">
        <p14:creationId xmlns:p14="http://schemas.microsoft.com/office/powerpoint/2010/main" val="3718463153"/>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4" name="內容版面配置區 3">
            <a:extLst>
              <a:ext uri="{FF2B5EF4-FFF2-40B4-BE49-F238E27FC236}">
                <a16:creationId xmlns:a16="http://schemas.microsoft.com/office/drawing/2014/main" id="{A8AE6801-0935-4DDB-9F1D-37BC2745F310}"/>
              </a:ext>
            </a:extLst>
          </p:cNvPr>
          <p:cNvSpPr>
            <a:spLocks noGrp="1"/>
          </p:cNvSpPr>
          <p:nvPr>
            <p:ph sz="quarter" idx="10"/>
          </p:nvPr>
        </p:nvSpPr>
        <p:spPr>
          <a:xfrm>
            <a:off x="301725"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6" name="內容版面配置區 3">
            <a:extLst>
              <a:ext uri="{FF2B5EF4-FFF2-40B4-BE49-F238E27FC236}">
                <a16:creationId xmlns:a16="http://schemas.microsoft.com/office/drawing/2014/main" id="{C5A0BBB7-1B89-4C34-A1C9-9CEE207EB87D}"/>
              </a:ext>
            </a:extLst>
          </p:cNvPr>
          <p:cNvSpPr>
            <a:spLocks noGrp="1"/>
          </p:cNvSpPr>
          <p:nvPr>
            <p:ph sz="quarter" idx="11"/>
          </p:nvPr>
        </p:nvSpPr>
        <p:spPr>
          <a:xfrm>
            <a:off x="5991372" y="904875"/>
            <a:ext cx="5522470" cy="5345113"/>
          </a:xfrm>
          <a:prstGeom prst="rect">
            <a:avLst/>
          </a:prstGeom>
        </p:spPr>
        <p:txBody>
          <a:bodyPr/>
          <a:lstStyle>
            <a:lvl1pPr>
              <a:lnSpc>
                <a:spcPts val="2200"/>
              </a:lnSpc>
              <a:defRPr>
                <a:latin typeface="微軟正黑體" panose="020B0604030504040204" pitchFamily="34" charset="-120"/>
                <a:ea typeface="微軟正黑體" panose="020B0604030504040204" pitchFamily="34" charset="-120"/>
              </a:defRPr>
            </a:lvl1pPr>
            <a:lvl2pPr marL="144463" indent="-142875">
              <a:lnSpc>
                <a:spcPts val="2200"/>
              </a:lnSpc>
              <a:buFont typeface="Wingdings" panose="05000000000000000000" pitchFamily="2" charset="2"/>
              <a:buChar char="n"/>
              <a:defRPr>
                <a:latin typeface="微軟正黑體" panose="020B0604030504040204" pitchFamily="34" charset="-120"/>
                <a:ea typeface="微軟正黑體" panose="020B0604030504040204" pitchFamily="34" charset="-120"/>
              </a:defRPr>
            </a:lvl2pPr>
            <a:lvl3pPr marL="295275" indent="-149225">
              <a:lnSpc>
                <a:spcPts val="2200"/>
              </a:lnSpc>
              <a:buFont typeface="Wingdings" panose="05000000000000000000" pitchFamily="2" charset="2"/>
              <a:buChar char="l"/>
              <a:defRPr>
                <a:latin typeface="微軟正黑體" panose="020B0604030504040204" pitchFamily="34" charset="-120"/>
                <a:ea typeface="微軟正黑體" panose="020B0604030504040204" pitchFamily="34" charset="-120"/>
              </a:defRPr>
            </a:lvl3pPr>
            <a:lvl4pPr marL="431800" indent="-134938">
              <a:lnSpc>
                <a:spcPts val="2200"/>
              </a:lnSpc>
              <a:buFont typeface="Wingdings" panose="05000000000000000000" pitchFamily="2" charset="2"/>
              <a:buChar char="u"/>
              <a:defRPr>
                <a:latin typeface="微軟正黑體" panose="020B0604030504040204" pitchFamily="34" charset="-120"/>
                <a:ea typeface="微軟正黑體" panose="020B0604030504040204" pitchFamily="34" charset="-120"/>
              </a:defRPr>
            </a:lvl4pPr>
            <a:lvl5pPr>
              <a:lnSpc>
                <a:spcPts val="2200"/>
              </a:lnSpc>
              <a:defRPr>
                <a:latin typeface="微軟正黑體" panose="020B0604030504040204" pitchFamily="34" charset="-120"/>
                <a:ea typeface="微軟正黑體" panose="020B0604030504040204" pitchFamily="34" charset="-120"/>
              </a:defRPr>
            </a:lvl5p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標題 1">
            <a:extLst>
              <a:ext uri="{FF2B5EF4-FFF2-40B4-BE49-F238E27FC236}">
                <a16:creationId xmlns:a16="http://schemas.microsoft.com/office/drawing/2014/main" id="{D4E2322C-141C-48C2-8177-7FDD2D4D7FD8}"/>
              </a:ext>
            </a:extLst>
          </p:cNvPr>
          <p:cNvSpPr>
            <a:spLocks noGrp="1"/>
          </p:cNvSpPr>
          <p:nvPr>
            <p:ph type="title"/>
          </p:nvPr>
        </p:nvSpPr>
        <p:spPr>
          <a:xfrm>
            <a:off x="358605" y="147918"/>
            <a:ext cx="11116727" cy="622580"/>
          </a:xfrm>
          <a:prstGeom prst="rect">
            <a:avLst/>
          </a:prstGeom>
        </p:spPr>
        <p:txBody>
          <a:bodyPr anchor="ctr"/>
          <a:lstStyle>
            <a:lvl1pPr algn="l">
              <a:defRPr sz="3200" b="0">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2840032455"/>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F4954E7-C321-4711-980B-653E429E727F}"/>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5D2E70A-BDBD-405C-8DF3-44E4D9290059}"/>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C4C10D6-071C-4A4A-AB2F-B602F6EDD1CF}"/>
              </a:ext>
            </a:extLst>
          </p:cNvPr>
          <p:cNvSpPr>
            <a:spLocks noGrp="1"/>
          </p:cNvSpPr>
          <p:nvPr>
            <p:ph type="dt" sz="half" idx="10"/>
          </p:nvPr>
        </p:nvSpPr>
        <p:spPr/>
        <p:txBody>
          <a:bodyPr/>
          <a:lstStyle/>
          <a:p>
            <a:fld id="{4F08E256-5995-403C-894B-AAABC173ABA4}" type="datetimeFigureOut">
              <a:rPr lang="zh-TW" altLang="en-US" smtClean="0"/>
              <a:t>2023/11/17</a:t>
            </a:fld>
            <a:endParaRPr lang="zh-TW" altLang="en-US"/>
          </a:p>
        </p:txBody>
      </p:sp>
      <p:sp>
        <p:nvSpPr>
          <p:cNvPr id="5" name="頁尾版面配置區 4">
            <a:extLst>
              <a:ext uri="{FF2B5EF4-FFF2-40B4-BE49-F238E27FC236}">
                <a16:creationId xmlns:a16="http://schemas.microsoft.com/office/drawing/2014/main" id="{427CA7C5-B7AB-4F2E-90C1-05065836218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88B4B4D-2069-41D0-9FEE-109FC0F6761C}"/>
              </a:ext>
            </a:extLst>
          </p:cNvPr>
          <p:cNvSpPr>
            <a:spLocks noGrp="1"/>
          </p:cNvSpPr>
          <p:nvPr>
            <p:ph type="sldNum" sz="quarter" idx="12"/>
          </p:nvPr>
        </p:nvSpPr>
        <p:spPr/>
        <p:txBody>
          <a:bodyPr/>
          <a:lstStyle/>
          <a:p>
            <a:fld id="{CA2BE785-B859-44A9-BF3D-5E47C26ECBDA}" type="slidenum">
              <a:rPr lang="zh-TW" altLang="en-US" smtClean="0"/>
              <a:t>‹#›</a:t>
            </a:fld>
            <a:endParaRPr lang="zh-TW" altLang="en-US"/>
          </a:p>
        </p:txBody>
      </p:sp>
    </p:spTree>
    <p:extLst>
      <p:ext uri="{BB962C8B-B14F-4D97-AF65-F5344CB8AC3E}">
        <p14:creationId xmlns:p14="http://schemas.microsoft.com/office/powerpoint/2010/main" val="3657223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C6665AEB-59FE-4F24-9CB8-A4FB48FA899A}"/>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50806" y="6155362"/>
            <a:ext cx="4570242" cy="731880"/>
          </a:xfrm>
          <a:prstGeom prst="rect">
            <a:avLst/>
          </a:prstGeom>
        </p:spPr>
      </p:pic>
      <p:sp>
        <p:nvSpPr>
          <p:cNvPr id="1026" name="Line 197"/>
          <p:cNvSpPr>
            <a:spLocks noChangeShapeType="1"/>
          </p:cNvSpPr>
          <p:nvPr userDrawn="1"/>
        </p:nvSpPr>
        <p:spPr bwMode="auto">
          <a:xfrm>
            <a:off x="304814" y="792163"/>
            <a:ext cx="11248465"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00"/>
          </a:p>
        </p:txBody>
      </p:sp>
      <p:sp>
        <p:nvSpPr>
          <p:cNvPr id="1027" name="矩形 9"/>
          <p:cNvSpPr>
            <a:spLocks noChangeArrowheads="1"/>
          </p:cNvSpPr>
          <p:nvPr userDrawn="1"/>
        </p:nvSpPr>
        <p:spPr bwMode="auto">
          <a:xfrm>
            <a:off x="16935" y="6438628"/>
            <a:ext cx="520723" cy="22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00"/>
              </a:lnSpc>
              <a:defRPr/>
            </a:pPr>
            <a:fld id="{B24A712F-B284-4871-8CF9-DC6E056DBACF}" type="slidenum">
              <a:rPr lang="en-US" altLang="zh-TW" sz="1200" b="0" smtClean="0">
                <a:ea typeface="微軟正黑體" pitchFamily="34" charset="-120"/>
              </a:rPr>
              <a:pPr algn="ctr" eaLnBrk="1" hangingPunct="1">
                <a:lnSpc>
                  <a:spcPts val="1000"/>
                </a:lnSpc>
                <a:defRPr/>
              </a:pPr>
              <a:t>‹#›</a:t>
            </a:fld>
            <a:endParaRPr lang="en-US" altLang="zh-TW" sz="1200" b="0" dirty="0">
              <a:ea typeface="微軟正黑體" pitchFamily="34" charset="-120"/>
            </a:endParaRPr>
          </a:p>
        </p:txBody>
      </p:sp>
      <p:pic>
        <p:nvPicPr>
          <p:cNvPr id="3" name="圖片 2">
            <a:extLst>
              <a:ext uri="{FF2B5EF4-FFF2-40B4-BE49-F238E27FC236}">
                <a16:creationId xmlns:a16="http://schemas.microsoft.com/office/drawing/2014/main" id="{A94AB532-351A-4A3E-8D7A-03049FC8B5B3}"/>
              </a:ext>
            </a:extLst>
          </p:cNvPr>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9154756" y="6322740"/>
            <a:ext cx="2364050" cy="312671"/>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3" r:id="rId2"/>
    <p:sldLayoutId id="2147483704" r:id="rId3"/>
    <p:sldLayoutId id="2147483706" r:id="rId4"/>
    <p:sldLayoutId id="2147483707" r:id="rId5"/>
  </p:sldLayoutIdLst>
  <p:transition spd="med"/>
  <p:hf hdr="0"/>
  <p:txStyles>
    <p:titleStyle>
      <a:lvl1pPr algn="l" defTabSz="895350" rtl="0" eaLnBrk="0" fontAlgn="base" hangingPunct="0">
        <a:spcBef>
          <a:spcPct val="0"/>
        </a:spcBef>
        <a:spcAft>
          <a:spcPct val="0"/>
        </a:spcAft>
        <a:defRPr sz="1900" b="1">
          <a:solidFill>
            <a:schemeClr val="tx2"/>
          </a:solidFill>
          <a:latin typeface="+mj-lt"/>
          <a:ea typeface="+mj-ea"/>
          <a:cs typeface="+mj-cs"/>
        </a:defRPr>
      </a:lvl1pPr>
      <a:lvl2pPr algn="l" defTabSz="895350" rtl="0" eaLnBrk="0" fontAlgn="base" hangingPunct="0">
        <a:spcBef>
          <a:spcPct val="0"/>
        </a:spcBef>
        <a:spcAft>
          <a:spcPct val="0"/>
        </a:spcAft>
        <a:defRPr sz="1900" b="1">
          <a:solidFill>
            <a:schemeClr val="tx2"/>
          </a:solidFill>
          <a:latin typeface="Arial" charset="0"/>
        </a:defRPr>
      </a:lvl2pPr>
      <a:lvl3pPr algn="l" defTabSz="895350" rtl="0" eaLnBrk="0" fontAlgn="base" hangingPunct="0">
        <a:spcBef>
          <a:spcPct val="0"/>
        </a:spcBef>
        <a:spcAft>
          <a:spcPct val="0"/>
        </a:spcAft>
        <a:defRPr sz="1900" b="1">
          <a:solidFill>
            <a:schemeClr val="tx2"/>
          </a:solidFill>
          <a:latin typeface="Arial" charset="0"/>
        </a:defRPr>
      </a:lvl3pPr>
      <a:lvl4pPr algn="l" defTabSz="895350" rtl="0" eaLnBrk="0" fontAlgn="base" hangingPunct="0">
        <a:spcBef>
          <a:spcPct val="0"/>
        </a:spcBef>
        <a:spcAft>
          <a:spcPct val="0"/>
        </a:spcAft>
        <a:defRPr sz="1900" b="1">
          <a:solidFill>
            <a:schemeClr val="tx2"/>
          </a:solidFill>
          <a:latin typeface="Arial" charset="0"/>
        </a:defRPr>
      </a:lvl4pPr>
      <a:lvl5pPr algn="l" defTabSz="895350" rtl="0" eaLnBrk="0" fontAlgn="base" hangingPunct="0">
        <a:spcBef>
          <a:spcPct val="0"/>
        </a:spcBef>
        <a:spcAft>
          <a:spcPct val="0"/>
        </a:spcAft>
        <a:defRPr sz="1900" b="1">
          <a:solidFill>
            <a:schemeClr val="tx2"/>
          </a:solidFill>
          <a:latin typeface="Arial" charset="0"/>
        </a:defRPr>
      </a:lvl5pPr>
      <a:lvl6pPr marL="457200" algn="l" defTabSz="895350" rtl="0" fontAlgn="base">
        <a:spcBef>
          <a:spcPct val="0"/>
        </a:spcBef>
        <a:spcAft>
          <a:spcPct val="0"/>
        </a:spcAft>
        <a:defRPr sz="1900" b="1">
          <a:solidFill>
            <a:schemeClr val="tx2"/>
          </a:solidFill>
          <a:latin typeface="Arial" charset="0"/>
        </a:defRPr>
      </a:lvl6pPr>
      <a:lvl7pPr marL="914400" algn="l" defTabSz="895350" rtl="0" fontAlgn="base">
        <a:spcBef>
          <a:spcPct val="0"/>
        </a:spcBef>
        <a:spcAft>
          <a:spcPct val="0"/>
        </a:spcAft>
        <a:defRPr sz="1900" b="1">
          <a:solidFill>
            <a:schemeClr val="tx2"/>
          </a:solidFill>
          <a:latin typeface="Arial" charset="0"/>
        </a:defRPr>
      </a:lvl7pPr>
      <a:lvl8pPr marL="1371600" algn="l" defTabSz="895350" rtl="0" fontAlgn="base">
        <a:spcBef>
          <a:spcPct val="0"/>
        </a:spcBef>
        <a:spcAft>
          <a:spcPct val="0"/>
        </a:spcAft>
        <a:defRPr sz="1900" b="1">
          <a:solidFill>
            <a:schemeClr val="tx2"/>
          </a:solidFill>
          <a:latin typeface="Arial" charset="0"/>
        </a:defRPr>
      </a:lvl8pPr>
      <a:lvl9pPr marL="1828800" algn="l" defTabSz="895350" rtl="0" fontAlgn="base">
        <a:spcBef>
          <a:spcPct val="0"/>
        </a:spcBef>
        <a:spcAft>
          <a:spcPct val="0"/>
        </a:spcAft>
        <a:defRPr sz="1900" b="1">
          <a:solidFill>
            <a:schemeClr val="tx2"/>
          </a:solidFill>
          <a:latin typeface="Arial" charset="0"/>
        </a:defRPr>
      </a:lvl9pPr>
    </p:titleStyle>
    <p:bodyStyle>
      <a:lvl1pPr algn="l" defTabSz="895350" rtl="0" eaLnBrk="0" fontAlgn="base" hangingPunct="0">
        <a:spcBef>
          <a:spcPct val="0"/>
        </a:spcBef>
        <a:spcAft>
          <a:spcPct val="0"/>
        </a:spcAft>
        <a:buSzPct val="120000"/>
        <a:defRPr sz="1600">
          <a:solidFill>
            <a:schemeClr val="tx1"/>
          </a:solidFill>
          <a:latin typeface="+mn-lt"/>
          <a:ea typeface="+mn-ea"/>
          <a:cs typeface="+mn-cs"/>
        </a:defRPr>
      </a:lvl1pPr>
      <a:lvl2pPr marL="144463" indent="-142875" algn="l" defTabSz="895350" rtl="0" eaLnBrk="0" fontAlgn="base" hangingPunct="0">
        <a:spcBef>
          <a:spcPct val="0"/>
        </a:spcBef>
        <a:spcAft>
          <a:spcPct val="0"/>
        </a:spcAft>
        <a:buSzPct val="120000"/>
        <a:buChar char="•"/>
        <a:defRPr sz="1600">
          <a:solidFill>
            <a:schemeClr val="tx1"/>
          </a:solidFill>
          <a:latin typeface="+mn-lt"/>
          <a:ea typeface="+mn-ea"/>
        </a:defRPr>
      </a:lvl2pPr>
      <a:lvl3pPr marL="295275" indent="-149225" algn="l" defTabSz="895350" rtl="0" eaLnBrk="0" fontAlgn="base" hangingPunct="0">
        <a:spcBef>
          <a:spcPct val="0"/>
        </a:spcBef>
        <a:spcAft>
          <a:spcPct val="0"/>
        </a:spcAft>
        <a:buChar char="–"/>
        <a:defRPr sz="1600">
          <a:solidFill>
            <a:schemeClr val="tx1"/>
          </a:solidFill>
          <a:latin typeface="+mn-lt"/>
          <a:ea typeface="+mn-ea"/>
        </a:defRPr>
      </a:lvl3pPr>
      <a:lvl4pPr marL="431800" indent="-134938" algn="l" defTabSz="895350" rtl="0" eaLnBrk="0" fontAlgn="base" hangingPunct="0">
        <a:spcBef>
          <a:spcPct val="0"/>
        </a:spcBef>
        <a:spcAft>
          <a:spcPct val="0"/>
        </a:spcAft>
        <a:buSzPct val="89000"/>
        <a:buChar char="•"/>
        <a:defRPr sz="1600">
          <a:solidFill>
            <a:schemeClr val="tx1"/>
          </a:solidFill>
          <a:latin typeface="+mn-lt"/>
          <a:ea typeface="+mn-ea"/>
        </a:defRPr>
      </a:lvl4pPr>
      <a:lvl5pPr marL="582613" indent="-149225" algn="l" defTabSz="895350" rtl="0" eaLnBrk="0" fontAlgn="base" hangingPunct="0">
        <a:spcBef>
          <a:spcPct val="0"/>
        </a:spcBef>
        <a:spcAft>
          <a:spcPct val="0"/>
        </a:spcAft>
        <a:buSzPct val="75000"/>
        <a:buChar char="–"/>
        <a:defRPr sz="1600">
          <a:solidFill>
            <a:schemeClr val="tx1"/>
          </a:solidFill>
          <a:latin typeface="+mn-lt"/>
          <a:ea typeface="+mn-ea"/>
        </a:defRPr>
      </a:lvl5pPr>
      <a:lvl6pPr marL="1039813" indent="-149225" algn="l" defTabSz="895350" rtl="0" fontAlgn="base">
        <a:spcBef>
          <a:spcPct val="0"/>
        </a:spcBef>
        <a:spcAft>
          <a:spcPct val="0"/>
        </a:spcAft>
        <a:buSzPct val="75000"/>
        <a:buChar char="–"/>
        <a:defRPr sz="1600">
          <a:solidFill>
            <a:schemeClr val="tx1"/>
          </a:solidFill>
          <a:latin typeface="+mn-lt"/>
          <a:ea typeface="+mn-ea"/>
        </a:defRPr>
      </a:lvl6pPr>
      <a:lvl7pPr marL="1497013" indent="-149225" algn="l" defTabSz="895350" rtl="0" fontAlgn="base">
        <a:spcBef>
          <a:spcPct val="0"/>
        </a:spcBef>
        <a:spcAft>
          <a:spcPct val="0"/>
        </a:spcAft>
        <a:buSzPct val="75000"/>
        <a:buChar char="–"/>
        <a:defRPr sz="1600">
          <a:solidFill>
            <a:schemeClr val="tx1"/>
          </a:solidFill>
          <a:latin typeface="+mn-lt"/>
          <a:ea typeface="+mn-ea"/>
        </a:defRPr>
      </a:lvl7pPr>
      <a:lvl8pPr marL="1954213" indent="-149225" algn="l" defTabSz="895350" rtl="0" fontAlgn="base">
        <a:spcBef>
          <a:spcPct val="0"/>
        </a:spcBef>
        <a:spcAft>
          <a:spcPct val="0"/>
        </a:spcAft>
        <a:buSzPct val="75000"/>
        <a:buChar char="–"/>
        <a:defRPr sz="1600">
          <a:solidFill>
            <a:schemeClr val="tx1"/>
          </a:solidFill>
          <a:latin typeface="+mn-lt"/>
          <a:ea typeface="+mn-ea"/>
        </a:defRPr>
      </a:lvl8pPr>
      <a:lvl9pPr marL="2411413" indent="-149225" algn="l" defTabSz="895350" rtl="0" fontAlgn="base">
        <a:spcBef>
          <a:spcPct val="0"/>
        </a:spcBef>
        <a:spcAft>
          <a:spcPct val="0"/>
        </a:spcAft>
        <a:buSzPct val="75000"/>
        <a:buChar char="–"/>
        <a:defRPr sz="16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hyperlink" Target="https://mma.sinopac.com/Fund/FundQueries/PortableStatus_First.aspx"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mma.sinopac.com/Fund/FundQueries/PortableStatus_First.aspx" TargetMode="Externa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hyperlink" Target="https://bank.sinopac.com/sinopacBT/personal/credit-card/news.html"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hyperlink" Target="https://mma.sinopac.com/Fund/FundQueries/PortableStatus_First.aspx" TargetMode="External"/><Relationship Id="rId2" Type="http://schemas.openxmlformats.org/officeDocument/2006/relationships/hyperlink" Target="https://mma.sinopac.com/Fund/FundTransactions/cAuto_FirstN.aspx" TargetMode="External"/><Relationship Id="rId1" Type="http://schemas.openxmlformats.org/officeDocument/2006/relationships/slideLayout" Target="../slideLayouts/slideLayout3.xml"/><Relationship Id="rId5" Type="http://schemas.openxmlformats.org/officeDocument/2006/relationships/hyperlink" Target="https://mma.sinopac.com/Fund/FundTransactions/ModifyFund/cModifyFund_First.aspx" TargetMode="External"/><Relationship Id="rId4" Type="http://schemas.openxmlformats.org/officeDocument/2006/relationships/hyperlink" Target="https://mma.sinopac.com/Fund/Fundtransactions/ModifyFund/cModifyFund_Alert.aspx?NoData=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hyperlink" Target="https://www.fundclear.com.tw/"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https://bank.sinopac.com/sinopacBT/footer/privacy-statement.html" TargetMode="External"/><Relationship Id="rId2" Type="http://schemas.openxmlformats.org/officeDocument/2006/relationships/hyperlink" Target="https://bank.sinopac.com/MMA8/bank/service/service-index.html" TargetMode="External"/><Relationship Id="rId1" Type="http://schemas.openxmlformats.org/officeDocument/2006/relationships/slideLayout" Target="../slideLayouts/slideLayout3.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71AFB39-BD2B-034D-B452-A0BB39936D69}"/>
              </a:ext>
            </a:extLst>
          </p:cNvPr>
          <p:cNvSpPr/>
          <p:nvPr/>
        </p:nvSpPr>
        <p:spPr bwMode="auto">
          <a:xfrm>
            <a:off x="-1" y="0"/>
            <a:ext cx="11949113" cy="6721425"/>
          </a:xfrm>
          <a:prstGeom prst="rect">
            <a:avLst/>
          </a:prstGeom>
          <a:solidFill>
            <a:srgbClr val="00206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4000" b="1" i="0" u="none" strike="noStrike" cap="none" normalizeH="0" baseline="0">
              <a:ln>
                <a:noFill/>
              </a:ln>
              <a:solidFill>
                <a:schemeClr val="tx1"/>
              </a:solidFill>
              <a:effectLst/>
              <a:latin typeface="Arial" charset="0"/>
              <a:ea typeface="华文楷体" pitchFamily="2" charset="-122"/>
            </a:endParaRPr>
          </a:p>
        </p:txBody>
      </p:sp>
      <p:sp>
        <p:nvSpPr>
          <p:cNvPr id="2" name="矩形 1">
            <a:extLst>
              <a:ext uri="{FF2B5EF4-FFF2-40B4-BE49-F238E27FC236}">
                <a16:creationId xmlns:a16="http://schemas.microsoft.com/office/drawing/2014/main" id="{47547168-10FB-0248-B9FD-8921C5352D26}"/>
              </a:ext>
            </a:extLst>
          </p:cNvPr>
          <p:cNvSpPr/>
          <p:nvPr/>
        </p:nvSpPr>
        <p:spPr>
          <a:xfrm>
            <a:off x="-1" y="49"/>
            <a:ext cx="11949113" cy="672137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9618" tIns="44809" rIns="89618" bIns="44809" numCol="1" spcCol="0" rtlCol="0" fromWordArt="0" anchor="ctr" anchorCtr="0" forceAA="0" compatLnSpc="1">
            <a:prstTxWarp prst="textNoShape">
              <a:avLst/>
            </a:prstTxWarp>
            <a:noAutofit/>
          </a:bodyPr>
          <a:lstStyle/>
          <a:p>
            <a:pPr algn="ctr"/>
            <a:endParaRPr kumimoji="1" lang="zh-TW" altLang="en-US" sz="3920"/>
          </a:p>
        </p:txBody>
      </p:sp>
      <p:sp>
        <p:nvSpPr>
          <p:cNvPr id="3" name="矩形 2">
            <a:extLst>
              <a:ext uri="{FF2B5EF4-FFF2-40B4-BE49-F238E27FC236}">
                <a16:creationId xmlns:a16="http://schemas.microsoft.com/office/drawing/2014/main" id="{BF051D30-806E-4D30-8A8E-A875F05E03A7}"/>
              </a:ext>
            </a:extLst>
          </p:cNvPr>
          <p:cNvSpPr/>
          <p:nvPr/>
        </p:nvSpPr>
        <p:spPr>
          <a:xfrm>
            <a:off x="-1" y="49"/>
            <a:ext cx="11949113" cy="6721376"/>
          </a:xfrm>
          <a:prstGeom prst="rect">
            <a:avLst/>
          </a:prstGeom>
          <a:gradFill>
            <a:gsLst>
              <a:gs pos="76000">
                <a:srgbClr val="0DB5C5">
                  <a:alpha val="85000"/>
                </a:srgbClr>
              </a:gs>
              <a:gs pos="50298">
                <a:srgbClr val="2082B4">
                  <a:alpha val="85000"/>
                </a:srgbClr>
              </a:gs>
              <a:gs pos="30000">
                <a:srgbClr val="305AA6">
                  <a:alpha val="85000"/>
                </a:srgbClr>
              </a:gs>
              <a:gs pos="15000">
                <a:srgbClr val="403198">
                  <a:alpha val="85000"/>
                </a:srgbClr>
              </a:gs>
              <a:gs pos="100000">
                <a:srgbClr val="03D3CF">
                  <a:alpha val="85000"/>
                </a:srgb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896203" fontAlgn="auto">
              <a:spcBef>
                <a:spcPts val="0"/>
              </a:spcBef>
              <a:spcAft>
                <a:spcPts val="0"/>
              </a:spcAft>
              <a:defRPr/>
            </a:pPr>
            <a:endParaRPr lang="zh-CN" altLang="en-US" sz="1764" b="0" dirty="0">
              <a:solidFill>
                <a:prstClr val="white"/>
              </a:solidFill>
              <a:latin typeface="华文细黑"/>
              <a:ea typeface="方正兰亭黑简体"/>
            </a:endParaRPr>
          </a:p>
        </p:txBody>
      </p:sp>
      <p:cxnSp>
        <p:nvCxnSpPr>
          <p:cNvPr id="5" name="直接连接符 107">
            <a:extLst>
              <a:ext uri="{FF2B5EF4-FFF2-40B4-BE49-F238E27FC236}">
                <a16:creationId xmlns:a16="http://schemas.microsoft.com/office/drawing/2014/main" id="{10FB541E-CB65-4FAC-8768-D11CAE235A7F}"/>
              </a:ext>
            </a:extLst>
          </p:cNvPr>
          <p:cNvCxnSpPr/>
          <p:nvPr/>
        </p:nvCxnSpPr>
        <p:spPr>
          <a:xfrm>
            <a:off x="231825" y="1705287"/>
            <a:ext cx="574273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直接连接符 108">
            <a:extLst>
              <a:ext uri="{FF2B5EF4-FFF2-40B4-BE49-F238E27FC236}">
                <a16:creationId xmlns:a16="http://schemas.microsoft.com/office/drawing/2014/main" id="{66C370AD-7F0E-4250-82E1-3FC4B5FE44D7}"/>
              </a:ext>
            </a:extLst>
          </p:cNvPr>
          <p:cNvCxnSpPr/>
          <p:nvPr/>
        </p:nvCxnSpPr>
        <p:spPr>
          <a:xfrm>
            <a:off x="231825" y="3061128"/>
            <a:ext cx="5742731"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文本框 109">
            <a:extLst>
              <a:ext uri="{FF2B5EF4-FFF2-40B4-BE49-F238E27FC236}">
                <a16:creationId xmlns:a16="http://schemas.microsoft.com/office/drawing/2014/main" id="{F0FAD128-16FC-400A-B27E-EBBD5BC26A34}"/>
              </a:ext>
            </a:extLst>
          </p:cNvPr>
          <p:cNvSpPr txBox="1"/>
          <p:nvPr/>
        </p:nvSpPr>
        <p:spPr bwMode="auto">
          <a:xfrm>
            <a:off x="118246" y="1753520"/>
            <a:ext cx="5969889" cy="816249"/>
          </a:xfrm>
          <a:prstGeom prst="rect">
            <a:avLst/>
          </a:prstGeom>
          <a:noFill/>
        </p:spPr>
        <p:txBody>
          <a:bodyPr>
            <a:spAutoFit/>
          </a:bodyPr>
          <a:lstStyle/>
          <a:p>
            <a:pPr algn="ctr" defTabSz="896203" fontAlgn="auto">
              <a:spcBef>
                <a:spcPts val="0"/>
              </a:spcBef>
              <a:spcAft>
                <a:spcPts val="0"/>
              </a:spcAft>
              <a:defRPr/>
            </a:pPr>
            <a:r>
              <a:rPr lang="zh-CN" altLang="en-US" sz="4704" b="0" dirty="0">
                <a:solidFill>
                  <a:prstClr val="white"/>
                </a:solidFill>
                <a:latin typeface="+mj-ea"/>
                <a:ea typeface="方正清刻本悦宋简体"/>
              </a:rPr>
              <a:t>退休</a:t>
            </a:r>
            <a:r>
              <a:rPr lang="zh-TW" altLang="en-US" sz="4704" b="0" dirty="0">
                <a:solidFill>
                  <a:prstClr val="white"/>
                </a:solidFill>
                <a:latin typeface="+mj-ea"/>
                <a:ea typeface="方正清刻本悦宋简体"/>
              </a:rPr>
              <a:t>信託</a:t>
            </a:r>
            <a:r>
              <a:rPr lang="zh-CN" altLang="en-US" sz="4704" b="0" dirty="0">
                <a:solidFill>
                  <a:prstClr val="white"/>
                </a:solidFill>
                <a:latin typeface="+mj-ea"/>
                <a:ea typeface="方正清刻本悦宋简体"/>
              </a:rPr>
              <a:t>帳戶可攜</a:t>
            </a:r>
          </a:p>
        </p:txBody>
      </p:sp>
      <p:sp>
        <p:nvSpPr>
          <p:cNvPr id="8" name="文本框 115">
            <a:extLst>
              <a:ext uri="{FF2B5EF4-FFF2-40B4-BE49-F238E27FC236}">
                <a16:creationId xmlns:a16="http://schemas.microsoft.com/office/drawing/2014/main" id="{F637B162-6E9A-42AB-9063-38845549AE59}"/>
              </a:ext>
            </a:extLst>
          </p:cNvPr>
          <p:cNvSpPr txBox="1"/>
          <p:nvPr/>
        </p:nvSpPr>
        <p:spPr bwMode="auto">
          <a:xfrm>
            <a:off x="328290" y="2549245"/>
            <a:ext cx="5549802" cy="452760"/>
          </a:xfrm>
          <a:prstGeom prst="rect">
            <a:avLst/>
          </a:prstGeom>
          <a:noFill/>
        </p:spPr>
        <p:txBody>
          <a:bodyPr>
            <a:spAutoFit/>
          </a:bodyPr>
          <a:lstStyle/>
          <a:p>
            <a:pPr algn="ctr" defTabSz="896203" fontAlgn="auto">
              <a:spcBef>
                <a:spcPts val="0"/>
              </a:spcBef>
              <a:spcAft>
                <a:spcPts val="0"/>
              </a:spcAft>
              <a:defRPr/>
            </a:pPr>
            <a:r>
              <a:rPr lang="en-US" altLang="zh-TW" sz="2352" b="0" dirty="0">
                <a:solidFill>
                  <a:prstClr val="white">
                    <a:lumMod val="65000"/>
                  </a:prstClr>
                </a:solidFill>
                <a:latin typeface="华文细黑"/>
                <a:ea typeface="方正兰亭黑简体"/>
              </a:rPr>
              <a:t>LANDING  PAGE</a:t>
            </a:r>
            <a:endParaRPr lang="zh-CN" altLang="en-US" sz="2352" b="0" dirty="0">
              <a:solidFill>
                <a:prstClr val="white">
                  <a:lumMod val="65000"/>
                </a:prstClr>
              </a:solidFill>
              <a:latin typeface="华文细黑"/>
              <a:ea typeface="方正兰亭黑简体"/>
            </a:endParaRPr>
          </a:p>
        </p:txBody>
      </p:sp>
      <p:sp>
        <p:nvSpPr>
          <p:cNvPr id="9" name="文本框 113">
            <a:extLst>
              <a:ext uri="{FF2B5EF4-FFF2-40B4-BE49-F238E27FC236}">
                <a16:creationId xmlns:a16="http://schemas.microsoft.com/office/drawing/2014/main" id="{87759762-6303-44FF-962A-10BDE5C194F0}"/>
              </a:ext>
            </a:extLst>
          </p:cNvPr>
          <p:cNvSpPr txBox="1">
            <a:spLocks noChangeArrowheads="1"/>
          </p:cNvSpPr>
          <p:nvPr/>
        </p:nvSpPr>
        <p:spPr bwMode="auto">
          <a:xfrm>
            <a:off x="1341975" y="4502473"/>
            <a:ext cx="3251777" cy="94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华文细黑" panose="02010600040101010101" pitchFamily="2" charset="-122"/>
                <a:ea typeface="方正兰亭黑简体" panose="02000000000000000000"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华文细黑" panose="02010600040101010101" pitchFamily="2" charset="-122"/>
                <a:ea typeface="方正兰亭黑简体" panose="02000000000000000000"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华文细黑" panose="02010600040101010101" pitchFamily="2" charset="-122"/>
                <a:ea typeface="方正兰亭黑简体" panose="02000000000000000000"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华文细黑" panose="02010600040101010101" pitchFamily="2" charset="-122"/>
                <a:ea typeface="方正兰亭黑简体" panose="02000000000000000000" pitchFamily="2" charset="-122"/>
              </a:defRPr>
            </a:lvl9pPr>
          </a:lstStyle>
          <a:p>
            <a:pPr defTabSz="896203" fontAlgn="auto">
              <a:lnSpc>
                <a:spcPct val="150000"/>
              </a:lnSpc>
              <a:spcBef>
                <a:spcPct val="0"/>
              </a:spcBef>
              <a:spcAft>
                <a:spcPts val="0"/>
              </a:spcAft>
              <a:buNone/>
              <a:defRPr/>
            </a:pPr>
            <a:r>
              <a:rPr lang="zh-TW" altLang="en-US" sz="1960" dirty="0">
                <a:solidFill>
                  <a:prstClr val="white"/>
                </a:solidFill>
                <a:latin typeface="微軟正黑體" panose="020B0604030504040204" pitchFamily="34" charset="-120"/>
                <a:ea typeface="微軟正黑體" panose="020B0604030504040204" pitchFamily="34" charset="-120"/>
              </a:rPr>
              <a:t>信託處   信託營管部</a:t>
            </a:r>
            <a:endParaRPr lang="en-US" altLang="zh-TW" sz="1960" dirty="0">
              <a:solidFill>
                <a:prstClr val="white"/>
              </a:solidFill>
              <a:latin typeface="微軟正黑體" panose="020B0604030504040204" pitchFamily="34" charset="-120"/>
              <a:ea typeface="微軟正黑體" panose="020B0604030504040204" pitchFamily="34" charset="-120"/>
            </a:endParaRPr>
          </a:p>
          <a:p>
            <a:pPr lvl="0">
              <a:lnSpc>
                <a:spcPct val="150000"/>
              </a:lnSpc>
              <a:spcBef>
                <a:spcPct val="0"/>
              </a:spcBef>
              <a:buNone/>
            </a:pPr>
            <a:r>
              <a:rPr lang="zh-TW" altLang="en-US" sz="1960" dirty="0">
                <a:solidFill>
                  <a:prstClr val="white"/>
                </a:solidFill>
                <a:latin typeface="微軟正黑體" panose="020B0604030504040204" pitchFamily="34" charset="-120"/>
                <a:ea typeface="微軟正黑體" panose="020B0604030504040204" pitchFamily="34" charset="-120"/>
              </a:rPr>
              <a:t>夏柏雅</a:t>
            </a:r>
            <a:endParaRPr lang="zh-CN" altLang="en-US" sz="1960" dirty="0">
              <a:solidFill>
                <a:prstClr val="white"/>
              </a:solidFill>
              <a:latin typeface="微軟正黑體" panose="020B0604030504040204" pitchFamily="34" charset="-120"/>
              <a:ea typeface="微軟正黑體" panose="020B0604030504040204" pitchFamily="34" charset="-120"/>
            </a:endParaRPr>
          </a:p>
        </p:txBody>
      </p:sp>
      <p:sp>
        <p:nvSpPr>
          <p:cNvPr id="10" name="文字版面配置區 3">
            <a:extLst>
              <a:ext uri="{FF2B5EF4-FFF2-40B4-BE49-F238E27FC236}">
                <a16:creationId xmlns:a16="http://schemas.microsoft.com/office/drawing/2014/main" id="{CCFC5BEB-CD8F-8F48-B69D-2698A30023D1}"/>
              </a:ext>
            </a:extLst>
          </p:cNvPr>
          <p:cNvSpPr txBox="1">
            <a:spLocks/>
          </p:cNvSpPr>
          <p:nvPr/>
        </p:nvSpPr>
        <p:spPr>
          <a:xfrm>
            <a:off x="1341975" y="5676461"/>
            <a:ext cx="1036090" cy="406400"/>
          </a:xfrm>
        </p:spPr>
        <p:txBody>
          <a:bodyPr/>
          <a:lstStyle>
            <a:defPPr>
              <a:defRPr lang="en-US"/>
            </a:defPPr>
            <a:lvl1pPr algn="l" rtl="0" fontAlgn="base">
              <a:spcBef>
                <a:spcPct val="0"/>
              </a:spcBef>
              <a:spcAft>
                <a:spcPct val="0"/>
              </a:spcAft>
              <a:defRPr sz="4000" b="1" kern="1200">
                <a:solidFill>
                  <a:schemeClr val="tx1"/>
                </a:solidFill>
                <a:latin typeface="Arial" charset="0"/>
                <a:ea typeface="华文楷体" pitchFamily="2" charset="-122"/>
                <a:cs typeface="+mn-cs"/>
              </a:defRPr>
            </a:lvl1pPr>
            <a:lvl2pPr marL="457200" algn="l" rtl="0" fontAlgn="base">
              <a:spcBef>
                <a:spcPct val="0"/>
              </a:spcBef>
              <a:spcAft>
                <a:spcPct val="0"/>
              </a:spcAft>
              <a:defRPr sz="4000" b="1" kern="1200">
                <a:solidFill>
                  <a:schemeClr val="tx1"/>
                </a:solidFill>
                <a:latin typeface="Arial" charset="0"/>
                <a:ea typeface="华文楷体" pitchFamily="2" charset="-122"/>
                <a:cs typeface="+mn-cs"/>
              </a:defRPr>
            </a:lvl2pPr>
            <a:lvl3pPr marL="914400" algn="l" rtl="0" fontAlgn="base">
              <a:spcBef>
                <a:spcPct val="0"/>
              </a:spcBef>
              <a:spcAft>
                <a:spcPct val="0"/>
              </a:spcAft>
              <a:defRPr sz="4000" b="1" kern="1200">
                <a:solidFill>
                  <a:schemeClr val="tx1"/>
                </a:solidFill>
                <a:latin typeface="Arial" charset="0"/>
                <a:ea typeface="华文楷体" pitchFamily="2" charset="-122"/>
                <a:cs typeface="+mn-cs"/>
              </a:defRPr>
            </a:lvl3pPr>
            <a:lvl4pPr marL="1371600" algn="l" rtl="0" fontAlgn="base">
              <a:spcBef>
                <a:spcPct val="0"/>
              </a:spcBef>
              <a:spcAft>
                <a:spcPct val="0"/>
              </a:spcAft>
              <a:defRPr sz="4000" b="1" kern="1200">
                <a:solidFill>
                  <a:schemeClr val="tx1"/>
                </a:solidFill>
                <a:latin typeface="Arial" charset="0"/>
                <a:ea typeface="华文楷体" pitchFamily="2" charset="-122"/>
                <a:cs typeface="+mn-cs"/>
              </a:defRPr>
            </a:lvl4pPr>
            <a:lvl5pPr marL="1828800" algn="l" rtl="0" fontAlgn="base">
              <a:spcBef>
                <a:spcPct val="0"/>
              </a:spcBef>
              <a:spcAft>
                <a:spcPct val="0"/>
              </a:spcAft>
              <a:defRPr sz="4000" b="1" kern="1200">
                <a:solidFill>
                  <a:schemeClr val="tx1"/>
                </a:solidFill>
                <a:latin typeface="Arial" charset="0"/>
                <a:ea typeface="华文楷体" pitchFamily="2" charset="-122"/>
                <a:cs typeface="+mn-cs"/>
              </a:defRPr>
            </a:lvl5pPr>
            <a:lvl6pPr marL="2286000" algn="l" defTabSz="914400" rtl="0" eaLnBrk="1" latinLnBrk="0" hangingPunct="1">
              <a:defRPr sz="4000" b="1" kern="1200">
                <a:solidFill>
                  <a:schemeClr val="tx1"/>
                </a:solidFill>
                <a:latin typeface="Arial" charset="0"/>
                <a:ea typeface="华文楷体" pitchFamily="2" charset="-122"/>
                <a:cs typeface="+mn-cs"/>
              </a:defRPr>
            </a:lvl6pPr>
            <a:lvl7pPr marL="2743200" algn="l" defTabSz="914400" rtl="0" eaLnBrk="1" latinLnBrk="0" hangingPunct="1">
              <a:defRPr sz="4000" b="1" kern="1200">
                <a:solidFill>
                  <a:schemeClr val="tx1"/>
                </a:solidFill>
                <a:latin typeface="Arial" charset="0"/>
                <a:ea typeface="华文楷体" pitchFamily="2" charset="-122"/>
                <a:cs typeface="+mn-cs"/>
              </a:defRPr>
            </a:lvl7pPr>
            <a:lvl8pPr marL="3200400" algn="l" defTabSz="914400" rtl="0" eaLnBrk="1" latinLnBrk="0" hangingPunct="1">
              <a:defRPr sz="4000" b="1" kern="1200">
                <a:solidFill>
                  <a:schemeClr val="tx1"/>
                </a:solidFill>
                <a:latin typeface="Arial" charset="0"/>
                <a:ea typeface="华文楷体" pitchFamily="2" charset="-122"/>
                <a:cs typeface="+mn-cs"/>
              </a:defRPr>
            </a:lvl8pPr>
            <a:lvl9pPr marL="3657600" algn="l" defTabSz="914400" rtl="0" eaLnBrk="1" latinLnBrk="0" hangingPunct="1">
              <a:defRPr sz="4000" b="1" kern="1200">
                <a:solidFill>
                  <a:schemeClr val="tx1"/>
                </a:solidFill>
                <a:latin typeface="Arial" charset="0"/>
                <a:ea typeface="华文楷体" pitchFamily="2" charset="-122"/>
                <a:cs typeface="+mn-cs"/>
              </a:defRPr>
            </a:lvl9pPr>
          </a:lstStyle>
          <a:p>
            <a:pPr>
              <a:defRPr/>
            </a:pPr>
            <a:r>
              <a:rPr kumimoji="1" lang="en-US" altLang="zh-TW" sz="1400" dirty="0">
                <a:solidFill>
                  <a:schemeClr val="bg1"/>
                </a:solidFill>
                <a:latin typeface="Microsoft JhengHei" panose="020B0604030504040204" pitchFamily="34" charset="-120"/>
                <a:ea typeface="Microsoft JhengHei" panose="020B0604030504040204" pitchFamily="34" charset="-120"/>
              </a:rPr>
              <a:t>2023/11</a:t>
            </a:r>
          </a:p>
        </p:txBody>
      </p:sp>
    </p:spTree>
    <p:extLst>
      <p:ext uri="{BB962C8B-B14F-4D97-AF65-F5344CB8AC3E}">
        <p14:creationId xmlns:p14="http://schemas.microsoft.com/office/powerpoint/2010/main" val="3826052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主頁</a:t>
            </a:r>
            <a:endParaRPr kumimoji="1" lang="zh-TW" altLang="en-US" b="1" dirty="0">
              <a:solidFill>
                <a:srgbClr val="FF0000"/>
              </a:solidFill>
            </a:endParaRPr>
          </a:p>
        </p:txBody>
      </p:sp>
      <p:pic>
        <p:nvPicPr>
          <p:cNvPr id="6" name="圖片 5">
            <a:extLst>
              <a:ext uri="{FF2B5EF4-FFF2-40B4-BE49-F238E27FC236}">
                <a16:creationId xmlns:a16="http://schemas.microsoft.com/office/drawing/2014/main" id="{AA9A01CB-17B4-F472-01AD-522ACAAC1ACE}"/>
              </a:ext>
            </a:extLst>
          </p:cNvPr>
          <p:cNvPicPr>
            <a:picLocks noChangeAspect="1"/>
          </p:cNvPicPr>
          <p:nvPr/>
        </p:nvPicPr>
        <p:blipFill>
          <a:blip r:embed="rId3"/>
          <a:stretch>
            <a:fillRect/>
          </a:stretch>
        </p:blipFill>
        <p:spPr>
          <a:xfrm>
            <a:off x="358605" y="848469"/>
            <a:ext cx="11236495" cy="5383657"/>
          </a:xfrm>
          <a:prstGeom prst="rect">
            <a:avLst/>
          </a:prstGeom>
        </p:spPr>
      </p:pic>
      <p:sp>
        <p:nvSpPr>
          <p:cNvPr id="3" name="文字方塊 2">
            <a:extLst>
              <a:ext uri="{FF2B5EF4-FFF2-40B4-BE49-F238E27FC236}">
                <a16:creationId xmlns:a16="http://schemas.microsoft.com/office/drawing/2014/main" id="{AEA1952D-EB03-F62B-B6CC-5914664061CD}"/>
              </a:ext>
            </a:extLst>
          </p:cNvPr>
          <p:cNvSpPr txBox="1"/>
          <p:nvPr/>
        </p:nvSpPr>
        <p:spPr>
          <a:xfrm>
            <a:off x="3516019" y="5427065"/>
            <a:ext cx="1789150"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跳轉「獨家優勢」區塊</a:t>
            </a:r>
          </a:p>
        </p:txBody>
      </p:sp>
      <p:cxnSp>
        <p:nvCxnSpPr>
          <p:cNvPr id="5" name="接點: 肘形 4">
            <a:extLst>
              <a:ext uri="{FF2B5EF4-FFF2-40B4-BE49-F238E27FC236}">
                <a16:creationId xmlns:a16="http://schemas.microsoft.com/office/drawing/2014/main" id="{2DD70A28-F5A6-C7F3-65BF-32AC52E7F707}"/>
              </a:ext>
            </a:extLst>
          </p:cNvPr>
          <p:cNvCxnSpPr>
            <a:cxnSpLocks/>
          </p:cNvCxnSpPr>
          <p:nvPr/>
        </p:nvCxnSpPr>
        <p:spPr bwMode="auto">
          <a:xfrm rot="10800000" flipH="1" flipV="1">
            <a:off x="3336323" y="5145897"/>
            <a:ext cx="171458" cy="419667"/>
          </a:xfrm>
          <a:prstGeom prst="bentConnector3">
            <a:avLst>
              <a:gd name="adj1" fmla="val -133327"/>
            </a:avLst>
          </a:prstGeom>
          <a:solidFill>
            <a:schemeClr val="accent1"/>
          </a:solidFill>
          <a:ln w="19050" cap="flat" cmpd="sng" algn="ctr">
            <a:solidFill>
              <a:srgbClr val="FF0000"/>
            </a:solidFill>
            <a:prstDash val="dash"/>
            <a:round/>
            <a:headEnd type="none" w="med" len="med"/>
            <a:tailEnd type="triangle"/>
          </a:ln>
          <a:effectLst/>
        </p:spPr>
      </p:cxnSp>
    </p:spTree>
    <p:extLst>
      <p:ext uri="{BB962C8B-B14F-4D97-AF65-F5344CB8AC3E}">
        <p14:creationId xmlns:p14="http://schemas.microsoft.com/office/powerpoint/2010/main" val="349671844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跨行理財 </a:t>
            </a:r>
            <a:r>
              <a:rPr kumimoji="1" lang="en-US" altLang="zh-TW" sz="1800" b="1" dirty="0"/>
              <a:t>(1/2)</a:t>
            </a:r>
            <a:endParaRPr kumimoji="1" lang="zh-TW" altLang="en-US" b="1" dirty="0"/>
          </a:p>
        </p:txBody>
      </p:sp>
      <p:pic>
        <p:nvPicPr>
          <p:cNvPr id="5" name="圖片 4">
            <a:extLst>
              <a:ext uri="{FF2B5EF4-FFF2-40B4-BE49-F238E27FC236}">
                <a16:creationId xmlns:a16="http://schemas.microsoft.com/office/drawing/2014/main" id="{CFB34CD3-5456-5C5D-A547-F8887E2937EB}"/>
              </a:ext>
            </a:extLst>
          </p:cNvPr>
          <p:cNvPicPr>
            <a:picLocks noChangeAspect="1"/>
          </p:cNvPicPr>
          <p:nvPr/>
        </p:nvPicPr>
        <p:blipFill rotWithShape="1">
          <a:blip r:embed="rId3"/>
          <a:srcRect t="2822" b="4456"/>
          <a:stretch/>
        </p:blipFill>
        <p:spPr>
          <a:xfrm>
            <a:off x="358605" y="850900"/>
            <a:ext cx="11236495" cy="5557558"/>
          </a:xfrm>
          <a:prstGeom prst="rect">
            <a:avLst/>
          </a:prstGeom>
        </p:spPr>
      </p:pic>
      <p:sp>
        <p:nvSpPr>
          <p:cNvPr id="3" name="文字方塊 2">
            <a:extLst>
              <a:ext uri="{FF2B5EF4-FFF2-40B4-BE49-F238E27FC236}">
                <a16:creationId xmlns:a16="http://schemas.microsoft.com/office/drawing/2014/main" id="{950A1837-0DD1-0020-DD09-AF86D63140F2}"/>
              </a:ext>
            </a:extLst>
          </p:cNvPr>
          <p:cNvSpPr txBox="1"/>
          <p:nvPr/>
        </p:nvSpPr>
        <p:spPr>
          <a:xfrm>
            <a:off x="2997035" y="5408910"/>
            <a:ext cx="2785926"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4"/>
              </a:rPr>
              <a:t>https://mma.sinopac.com/Fund/FundQueries/PortableStatus_First.aspx</a:t>
            </a:r>
            <a:endParaRPr lang="zh-TW" altLang="en-US" dirty="0"/>
          </a:p>
        </p:txBody>
      </p:sp>
      <p:cxnSp>
        <p:nvCxnSpPr>
          <p:cNvPr id="6" name="接點: 肘形 5">
            <a:extLst>
              <a:ext uri="{FF2B5EF4-FFF2-40B4-BE49-F238E27FC236}">
                <a16:creationId xmlns:a16="http://schemas.microsoft.com/office/drawing/2014/main" id="{D51EF004-8764-913C-65A6-04A1A8C566DD}"/>
              </a:ext>
            </a:extLst>
          </p:cNvPr>
          <p:cNvCxnSpPr>
            <a:cxnSpLocks/>
          </p:cNvCxnSpPr>
          <p:nvPr/>
        </p:nvCxnSpPr>
        <p:spPr bwMode="auto">
          <a:xfrm rot="16200000" flipV="1">
            <a:off x="2893243" y="5727059"/>
            <a:ext cx="522160" cy="314576"/>
          </a:xfrm>
          <a:prstGeom prst="bentConnector4">
            <a:avLst>
              <a:gd name="adj1" fmla="val -2079"/>
              <a:gd name="adj2" fmla="val 172669"/>
            </a:avLst>
          </a:prstGeom>
          <a:solidFill>
            <a:schemeClr val="accent1"/>
          </a:solidFill>
          <a:ln w="19050" cap="flat" cmpd="sng" algn="ctr">
            <a:solidFill>
              <a:srgbClr val="FF0000"/>
            </a:solidFill>
            <a:prstDash val="dash"/>
            <a:round/>
            <a:headEnd type="none" w="med" len="med"/>
            <a:tailEnd type="triangle"/>
          </a:ln>
          <a:effectLst/>
        </p:spPr>
      </p:cxnSp>
      <p:sp>
        <p:nvSpPr>
          <p:cNvPr id="8" name="文字方塊 7">
            <a:extLst>
              <a:ext uri="{FF2B5EF4-FFF2-40B4-BE49-F238E27FC236}">
                <a16:creationId xmlns:a16="http://schemas.microsoft.com/office/drawing/2014/main" id="{EA132896-12F0-DB6D-7B27-44A56D38D82E}"/>
              </a:ext>
            </a:extLst>
          </p:cNvPr>
          <p:cNvSpPr txBox="1"/>
          <p:nvPr/>
        </p:nvSpPr>
        <p:spPr>
          <a:xfrm>
            <a:off x="6166153" y="5408909"/>
            <a:ext cx="2785926"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t>popup</a:t>
            </a:r>
            <a:r>
              <a:rPr lang="zh-TW" altLang="en-US" dirty="0"/>
              <a:t> </a:t>
            </a:r>
            <a:r>
              <a:rPr kumimoji="1" lang="zh-TW" altLang="en-US" dirty="0"/>
              <a:t>退休信託帳戶可攜注意事項</a:t>
            </a:r>
            <a:endParaRPr kumimoji="1" lang="en-US" altLang="zh-TW" dirty="0"/>
          </a:p>
          <a:p>
            <a:r>
              <a:rPr kumimoji="1" lang="en-US" altLang="zh-TW" dirty="0"/>
              <a:t>(</a:t>
            </a:r>
            <a:r>
              <a:rPr kumimoji="1" lang="zh-TW" altLang="en-US" dirty="0"/>
              <a:t>詳下頁</a:t>
            </a:r>
            <a:r>
              <a:rPr kumimoji="1" lang="en-US" altLang="zh-TW" dirty="0"/>
              <a:t>)</a:t>
            </a:r>
            <a:endParaRPr lang="zh-TW" altLang="en-US" dirty="0"/>
          </a:p>
        </p:txBody>
      </p:sp>
      <p:sp>
        <p:nvSpPr>
          <p:cNvPr id="12" name="文字方塊 11">
            <a:extLst>
              <a:ext uri="{FF2B5EF4-FFF2-40B4-BE49-F238E27FC236}">
                <a16:creationId xmlns:a16="http://schemas.microsoft.com/office/drawing/2014/main" id="{6C9804E6-956F-9374-9B68-6AC824819120}"/>
              </a:ext>
            </a:extLst>
          </p:cNvPr>
          <p:cNvSpPr txBox="1"/>
          <p:nvPr/>
        </p:nvSpPr>
        <p:spPr>
          <a:xfrm>
            <a:off x="4863179" y="2003618"/>
            <a:ext cx="2222754"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卡面翻轉，此頁三卡別為正面</a:t>
            </a:r>
          </a:p>
        </p:txBody>
      </p:sp>
      <p:cxnSp>
        <p:nvCxnSpPr>
          <p:cNvPr id="20" name="接點: 肘形 19">
            <a:extLst>
              <a:ext uri="{FF2B5EF4-FFF2-40B4-BE49-F238E27FC236}">
                <a16:creationId xmlns:a16="http://schemas.microsoft.com/office/drawing/2014/main" id="{0DE79D31-1221-15F6-AA29-8C00824F5718}"/>
              </a:ext>
            </a:extLst>
          </p:cNvPr>
          <p:cNvCxnSpPr>
            <a:cxnSpLocks/>
            <a:stCxn id="12" idx="2"/>
          </p:cNvCxnSpPr>
          <p:nvPr/>
        </p:nvCxnSpPr>
        <p:spPr bwMode="auto">
          <a:xfrm rot="5400000">
            <a:off x="4656868" y="1359609"/>
            <a:ext cx="396680" cy="2238696"/>
          </a:xfrm>
          <a:prstGeom prst="bentConnector3">
            <a:avLst>
              <a:gd name="adj1" fmla="val 50000"/>
            </a:avLst>
          </a:prstGeom>
          <a:solidFill>
            <a:schemeClr val="accent1"/>
          </a:solidFill>
          <a:ln w="19050" cap="flat" cmpd="sng" algn="ctr">
            <a:solidFill>
              <a:srgbClr val="FF0000"/>
            </a:solidFill>
            <a:prstDash val="dash"/>
            <a:round/>
            <a:headEnd type="none" w="med" len="med"/>
            <a:tailEnd type="triangle"/>
          </a:ln>
          <a:effectLst/>
        </p:spPr>
      </p:cxnSp>
      <p:cxnSp>
        <p:nvCxnSpPr>
          <p:cNvPr id="23" name="接點: 肘形 22">
            <a:extLst>
              <a:ext uri="{FF2B5EF4-FFF2-40B4-BE49-F238E27FC236}">
                <a16:creationId xmlns:a16="http://schemas.microsoft.com/office/drawing/2014/main" id="{FE64C43F-4FC4-F2A7-8C2E-E41AA9C57443}"/>
              </a:ext>
            </a:extLst>
          </p:cNvPr>
          <p:cNvCxnSpPr>
            <a:cxnSpLocks/>
            <a:stCxn id="12" idx="2"/>
          </p:cNvCxnSpPr>
          <p:nvPr/>
        </p:nvCxnSpPr>
        <p:spPr bwMode="auto">
          <a:xfrm rot="16200000" flipH="1">
            <a:off x="6883285" y="1371888"/>
            <a:ext cx="396680" cy="2214138"/>
          </a:xfrm>
          <a:prstGeom prst="bentConnector3">
            <a:avLst>
              <a:gd name="adj1" fmla="val 50000"/>
            </a:avLst>
          </a:prstGeom>
          <a:solidFill>
            <a:schemeClr val="accent1"/>
          </a:solidFill>
          <a:ln w="19050" cap="flat" cmpd="sng" algn="ctr">
            <a:solidFill>
              <a:srgbClr val="FF0000"/>
            </a:solidFill>
            <a:prstDash val="dash"/>
            <a:round/>
            <a:headEnd type="none" w="med" len="med"/>
            <a:tailEnd type="triangle"/>
          </a:ln>
          <a:effectLst/>
        </p:spPr>
      </p:cxnSp>
      <p:cxnSp>
        <p:nvCxnSpPr>
          <p:cNvPr id="27" name="直線單箭頭接點 26">
            <a:extLst>
              <a:ext uri="{FF2B5EF4-FFF2-40B4-BE49-F238E27FC236}">
                <a16:creationId xmlns:a16="http://schemas.microsoft.com/office/drawing/2014/main" id="{F6964260-57C4-360A-B07A-0BD4941EC879}"/>
              </a:ext>
            </a:extLst>
          </p:cNvPr>
          <p:cNvCxnSpPr>
            <a:cxnSpLocks/>
          </p:cNvCxnSpPr>
          <p:nvPr/>
        </p:nvCxnSpPr>
        <p:spPr bwMode="auto">
          <a:xfrm>
            <a:off x="5974556" y="2280615"/>
            <a:ext cx="78" cy="396682"/>
          </a:xfrm>
          <a:prstGeom prst="straightConnector1">
            <a:avLst/>
          </a:prstGeom>
          <a:solidFill>
            <a:schemeClr val="accent1"/>
          </a:solidFill>
          <a:ln w="19050" cap="flat" cmpd="sng" algn="ctr">
            <a:solidFill>
              <a:srgbClr val="FF0000"/>
            </a:solidFill>
            <a:prstDash val="dash"/>
            <a:round/>
            <a:headEnd type="none" w="med" len="med"/>
            <a:tailEnd type="triangle"/>
          </a:ln>
          <a:effectLst/>
        </p:spPr>
      </p:cxnSp>
    </p:spTree>
    <p:extLst>
      <p:ext uri="{BB962C8B-B14F-4D97-AF65-F5344CB8AC3E}">
        <p14:creationId xmlns:p14="http://schemas.microsoft.com/office/powerpoint/2010/main" val="1553402829"/>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跨行理財 </a:t>
            </a:r>
            <a:r>
              <a:rPr kumimoji="1" lang="en-US" altLang="zh-TW" sz="1800" b="1" dirty="0"/>
              <a:t>(2/2)</a:t>
            </a:r>
            <a:endParaRPr kumimoji="1" lang="zh-TW" altLang="en-US" b="1" dirty="0"/>
          </a:p>
        </p:txBody>
      </p:sp>
      <p:pic>
        <p:nvPicPr>
          <p:cNvPr id="5" name="圖片 4">
            <a:extLst>
              <a:ext uri="{FF2B5EF4-FFF2-40B4-BE49-F238E27FC236}">
                <a16:creationId xmlns:a16="http://schemas.microsoft.com/office/drawing/2014/main" id="{1C7C45C4-5B6B-B357-1BA7-1A38150D5F4D}"/>
              </a:ext>
            </a:extLst>
          </p:cNvPr>
          <p:cNvPicPr>
            <a:picLocks noChangeAspect="1"/>
          </p:cNvPicPr>
          <p:nvPr/>
        </p:nvPicPr>
        <p:blipFill rotWithShape="1">
          <a:blip r:embed="rId2"/>
          <a:srcRect t="4232" b="4619"/>
          <a:stretch/>
        </p:blipFill>
        <p:spPr>
          <a:xfrm>
            <a:off x="320505" y="850900"/>
            <a:ext cx="11261895" cy="5468658"/>
          </a:xfrm>
          <a:prstGeom prst="rect">
            <a:avLst/>
          </a:prstGeom>
        </p:spPr>
      </p:pic>
      <p:sp>
        <p:nvSpPr>
          <p:cNvPr id="3" name="文字方塊 2">
            <a:extLst>
              <a:ext uri="{FF2B5EF4-FFF2-40B4-BE49-F238E27FC236}">
                <a16:creationId xmlns:a16="http://schemas.microsoft.com/office/drawing/2014/main" id="{5FF0FB1A-47EC-6C61-B6E3-4A01D97B1F55}"/>
              </a:ext>
            </a:extLst>
          </p:cNvPr>
          <p:cNvSpPr txBox="1"/>
          <p:nvPr/>
        </p:nvSpPr>
        <p:spPr>
          <a:xfrm>
            <a:off x="2997035" y="5408910"/>
            <a:ext cx="2785926"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3"/>
              </a:rPr>
              <a:t>https://mma.sinopac.com/Fund/FundQueries/PortableStatus_First.aspx</a:t>
            </a:r>
            <a:endParaRPr lang="zh-TW" altLang="en-US" dirty="0"/>
          </a:p>
        </p:txBody>
      </p:sp>
      <p:cxnSp>
        <p:nvCxnSpPr>
          <p:cNvPr id="4" name="接點: 肘形 3">
            <a:extLst>
              <a:ext uri="{FF2B5EF4-FFF2-40B4-BE49-F238E27FC236}">
                <a16:creationId xmlns:a16="http://schemas.microsoft.com/office/drawing/2014/main" id="{01066AD4-0EF6-0BF5-80FD-4046AC7751CA}"/>
              </a:ext>
            </a:extLst>
          </p:cNvPr>
          <p:cNvCxnSpPr>
            <a:cxnSpLocks/>
          </p:cNvCxnSpPr>
          <p:nvPr/>
        </p:nvCxnSpPr>
        <p:spPr bwMode="auto">
          <a:xfrm rot="16200000" flipV="1">
            <a:off x="2893243" y="5727059"/>
            <a:ext cx="522160" cy="314576"/>
          </a:xfrm>
          <a:prstGeom prst="bentConnector4">
            <a:avLst>
              <a:gd name="adj1" fmla="val -2079"/>
              <a:gd name="adj2" fmla="val 172669"/>
            </a:avLst>
          </a:prstGeom>
          <a:solidFill>
            <a:schemeClr val="accent1"/>
          </a:solidFill>
          <a:ln w="19050" cap="flat" cmpd="sng" algn="ctr">
            <a:solidFill>
              <a:srgbClr val="FF0000"/>
            </a:solidFill>
            <a:prstDash val="dash"/>
            <a:round/>
            <a:headEnd type="none" w="med" len="med"/>
            <a:tailEnd type="triangle"/>
          </a:ln>
          <a:effectLst/>
        </p:spPr>
      </p:cxnSp>
      <p:sp>
        <p:nvSpPr>
          <p:cNvPr id="6" name="文字方塊 5">
            <a:extLst>
              <a:ext uri="{FF2B5EF4-FFF2-40B4-BE49-F238E27FC236}">
                <a16:creationId xmlns:a16="http://schemas.microsoft.com/office/drawing/2014/main" id="{DD81330A-DC30-96F0-EBED-B6C15864919E}"/>
              </a:ext>
            </a:extLst>
          </p:cNvPr>
          <p:cNvSpPr txBox="1"/>
          <p:nvPr/>
        </p:nvSpPr>
        <p:spPr>
          <a:xfrm>
            <a:off x="6060392" y="5392433"/>
            <a:ext cx="2785926"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t>popup</a:t>
            </a:r>
            <a:r>
              <a:rPr lang="zh-TW" altLang="en-US" dirty="0"/>
              <a:t> </a:t>
            </a:r>
            <a:r>
              <a:rPr kumimoji="1" lang="zh-TW" altLang="en-US" dirty="0"/>
              <a:t>退休信託帳戶可攜注意事項</a:t>
            </a:r>
            <a:endParaRPr kumimoji="1" lang="en-US" altLang="zh-TW" dirty="0"/>
          </a:p>
          <a:p>
            <a:r>
              <a:rPr kumimoji="1" lang="en-US" altLang="zh-TW" dirty="0"/>
              <a:t>(</a:t>
            </a:r>
            <a:r>
              <a:rPr kumimoji="1" lang="zh-TW" altLang="en-US" dirty="0"/>
              <a:t>詳下頁</a:t>
            </a:r>
            <a:r>
              <a:rPr kumimoji="1" lang="en-US" altLang="zh-TW" dirty="0"/>
              <a:t>)</a:t>
            </a:r>
            <a:endParaRPr lang="zh-TW" altLang="en-US" dirty="0"/>
          </a:p>
        </p:txBody>
      </p:sp>
      <p:sp>
        <p:nvSpPr>
          <p:cNvPr id="7" name="文字方塊 6">
            <a:extLst>
              <a:ext uri="{FF2B5EF4-FFF2-40B4-BE49-F238E27FC236}">
                <a16:creationId xmlns:a16="http://schemas.microsoft.com/office/drawing/2014/main" id="{D455A789-FEC1-B2E4-88B5-1B2B00013425}"/>
              </a:ext>
            </a:extLst>
          </p:cNvPr>
          <p:cNvSpPr txBox="1"/>
          <p:nvPr/>
        </p:nvSpPr>
        <p:spPr>
          <a:xfrm>
            <a:off x="4863179" y="2003618"/>
            <a:ext cx="2222754"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卡面翻轉，此頁三卡別為反面</a:t>
            </a:r>
          </a:p>
        </p:txBody>
      </p:sp>
      <p:cxnSp>
        <p:nvCxnSpPr>
          <p:cNvPr id="11" name="接點: 肘形 10">
            <a:extLst>
              <a:ext uri="{FF2B5EF4-FFF2-40B4-BE49-F238E27FC236}">
                <a16:creationId xmlns:a16="http://schemas.microsoft.com/office/drawing/2014/main" id="{8BB83DC3-AC48-D0AC-308C-154EFA96008B}"/>
              </a:ext>
            </a:extLst>
          </p:cNvPr>
          <p:cNvCxnSpPr>
            <a:cxnSpLocks/>
          </p:cNvCxnSpPr>
          <p:nvPr/>
        </p:nvCxnSpPr>
        <p:spPr bwMode="auto">
          <a:xfrm rot="5400000">
            <a:off x="4656868" y="1359609"/>
            <a:ext cx="396680" cy="2238696"/>
          </a:xfrm>
          <a:prstGeom prst="bentConnector3">
            <a:avLst>
              <a:gd name="adj1" fmla="val 50000"/>
            </a:avLst>
          </a:prstGeom>
          <a:solidFill>
            <a:schemeClr val="accent1"/>
          </a:solidFill>
          <a:ln w="19050" cap="flat" cmpd="sng" algn="ctr">
            <a:solidFill>
              <a:srgbClr val="FF0000"/>
            </a:solidFill>
            <a:prstDash val="dash"/>
            <a:round/>
            <a:headEnd type="none" w="med" len="med"/>
            <a:tailEnd type="triangle"/>
          </a:ln>
          <a:effectLst/>
        </p:spPr>
      </p:cxnSp>
      <p:cxnSp>
        <p:nvCxnSpPr>
          <p:cNvPr id="12" name="接點: 肘形 11">
            <a:extLst>
              <a:ext uri="{FF2B5EF4-FFF2-40B4-BE49-F238E27FC236}">
                <a16:creationId xmlns:a16="http://schemas.microsoft.com/office/drawing/2014/main" id="{CF0F6265-8BED-3DC8-C4A9-9A8AF1AFD0D6}"/>
              </a:ext>
            </a:extLst>
          </p:cNvPr>
          <p:cNvCxnSpPr>
            <a:cxnSpLocks/>
          </p:cNvCxnSpPr>
          <p:nvPr/>
        </p:nvCxnSpPr>
        <p:spPr bwMode="auto">
          <a:xfrm rot="16200000" flipH="1">
            <a:off x="6883285" y="1371888"/>
            <a:ext cx="396680" cy="2214138"/>
          </a:xfrm>
          <a:prstGeom prst="bentConnector3">
            <a:avLst>
              <a:gd name="adj1" fmla="val 50000"/>
            </a:avLst>
          </a:prstGeom>
          <a:solidFill>
            <a:schemeClr val="accent1"/>
          </a:solidFill>
          <a:ln w="19050" cap="flat" cmpd="sng" algn="ctr">
            <a:solidFill>
              <a:srgbClr val="FF0000"/>
            </a:solidFill>
            <a:prstDash val="dash"/>
            <a:round/>
            <a:headEnd type="none" w="med" len="med"/>
            <a:tailEnd type="triangle"/>
          </a:ln>
          <a:effectLst/>
        </p:spPr>
      </p:cxnSp>
      <p:cxnSp>
        <p:nvCxnSpPr>
          <p:cNvPr id="13" name="直線單箭頭接點 12">
            <a:extLst>
              <a:ext uri="{FF2B5EF4-FFF2-40B4-BE49-F238E27FC236}">
                <a16:creationId xmlns:a16="http://schemas.microsoft.com/office/drawing/2014/main" id="{959FB147-C422-C753-475F-6D8F48466441}"/>
              </a:ext>
            </a:extLst>
          </p:cNvPr>
          <p:cNvCxnSpPr>
            <a:cxnSpLocks/>
          </p:cNvCxnSpPr>
          <p:nvPr/>
        </p:nvCxnSpPr>
        <p:spPr bwMode="auto">
          <a:xfrm>
            <a:off x="5974556" y="2280615"/>
            <a:ext cx="78" cy="396682"/>
          </a:xfrm>
          <a:prstGeom prst="straightConnector1">
            <a:avLst/>
          </a:prstGeom>
          <a:solidFill>
            <a:schemeClr val="accent1"/>
          </a:solidFill>
          <a:ln w="19050" cap="flat" cmpd="sng" algn="ctr">
            <a:solidFill>
              <a:srgbClr val="FF0000"/>
            </a:solidFill>
            <a:prstDash val="dash"/>
            <a:round/>
            <a:headEnd type="none" w="med" len="med"/>
            <a:tailEnd type="triangle"/>
          </a:ln>
          <a:effectLst/>
        </p:spPr>
      </p:cxnSp>
    </p:spTree>
    <p:extLst>
      <p:ext uri="{BB962C8B-B14F-4D97-AF65-F5344CB8AC3E}">
        <p14:creationId xmlns:p14="http://schemas.microsoft.com/office/powerpoint/2010/main" val="2320279790"/>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退休信託帳戶可攜注意事項</a:t>
            </a:r>
            <a:endParaRPr kumimoji="1" lang="zh-TW" altLang="en-US" b="1" dirty="0">
              <a:solidFill>
                <a:srgbClr val="FF0000"/>
              </a:solidFill>
            </a:endParaRPr>
          </a:p>
        </p:txBody>
      </p:sp>
      <p:pic>
        <p:nvPicPr>
          <p:cNvPr id="6" name="圖片 5">
            <a:extLst>
              <a:ext uri="{FF2B5EF4-FFF2-40B4-BE49-F238E27FC236}">
                <a16:creationId xmlns:a16="http://schemas.microsoft.com/office/drawing/2014/main" id="{E47A3AD2-39F2-59FA-DB4B-E28D7EA3E42E}"/>
              </a:ext>
            </a:extLst>
          </p:cNvPr>
          <p:cNvPicPr>
            <a:picLocks noChangeAspect="1"/>
          </p:cNvPicPr>
          <p:nvPr/>
        </p:nvPicPr>
        <p:blipFill>
          <a:blip r:embed="rId3"/>
          <a:stretch>
            <a:fillRect/>
          </a:stretch>
        </p:blipFill>
        <p:spPr>
          <a:xfrm>
            <a:off x="3241267" y="890717"/>
            <a:ext cx="5742713" cy="5568691"/>
          </a:xfrm>
          <a:prstGeom prst="rect">
            <a:avLst/>
          </a:prstGeom>
        </p:spPr>
      </p:pic>
    </p:spTree>
    <p:extLst>
      <p:ext uri="{BB962C8B-B14F-4D97-AF65-F5344CB8AC3E}">
        <p14:creationId xmlns:p14="http://schemas.microsoft.com/office/powerpoint/2010/main" val="870559942"/>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TW" altLang="en-US" b="1" dirty="0"/>
              <a:t>獨家優勢</a:t>
            </a:r>
            <a:endParaRPr kumimoji="1" lang="zh-TW" altLang="en-US" sz="1800" b="1" dirty="0"/>
          </a:p>
        </p:txBody>
      </p:sp>
      <p:pic>
        <p:nvPicPr>
          <p:cNvPr id="7" name="圖片 6">
            <a:extLst>
              <a:ext uri="{FF2B5EF4-FFF2-40B4-BE49-F238E27FC236}">
                <a16:creationId xmlns:a16="http://schemas.microsoft.com/office/drawing/2014/main" id="{55C6D22C-98CB-D46D-906A-6BCFFC4D51CC}"/>
              </a:ext>
            </a:extLst>
          </p:cNvPr>
          <p:cNvPicPr>
            <a:picLocks noChangeAspect="1"/>
          </p:cNvPicPr>
          <p:nvPr/>
        </p:nvPicPr>
        <p:blipFill rotWithShape="1">
          <a:blip r:embed="rId3"/>
          <a:srcRect b="2199"/>
          <a:stretch/>
        </p:blipFill>
        <p:spPr>
          <a:xfrm>
            <a:off x="-1" y="1120014"/>
            <a:ext cx="11949113" cy="5119422"/>
          </a:xfrm>
          <a:prstGeom prst="rect">
            <a:avLst/>
          </a:prstGeom>
        </p:spPr>
      </p:pic>
    </p:spTree>
    <p:extLst>
      <p:ext uri="{BB962C8B-B14F-4D97-AF65-F5344CB8AC3E}">
        <p14:creationId xmlns:p14="http://schemas.microsoft.com/office/powerpoint/2010/main" val="106402670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快速啟用</a:t>
            </a:r>
            <a:endParaRPr kumimoji="1" lang="zh-TW" altLang="en-US" sz="1800" b="1" dirty="0"/>
          </a:p>
        </p:txBody>
      </p:sp>
      <p:pic>
        <p:nvPicPr>
          <p:cNvPr id="4" name="圖片 3">
            <a:extLst>
              <a:ext uri="{FF2B5EF4-FFF2-40B4-BE49-F238E27FC236}">
                <a16:creationId xmlns:a16="http://schemas.microsoft.com/office/drawing/2014/main" id="{216A7897-DF13-039C-F756-D046F0E1FE8A}"/>
              </a:ext>
            </a:extLst>
          </p:cNvPr>
          <p:cNvPicPr>
            <a:picLocks noChangeAspect="1"/>
          </p:cNvPicPr>
          <p:nvPr/>
        </p:nvPicPr>
        <p:blipFill rotWithShape="1">
          <a:blip r:embed="rId3"/>
          <a:srcRect t="4535" b="10928"/>
          <a:stretch/>
        </p:blipFill>
        <p:spPr>
          <a:xfrm>
            <a:off x="663405" y="838201"/>
            <a:ext cx="10576095" cy="5422900"/>
          </a:xfrm>
          <a:prstGeom prst="rect">
            <a:avLst/>
          </a:prstGeom>
        </p:spPr>
      </p:pic>
      <p:sp>
        <p:nvSpPr>
          <p:cNvPr id="3" name="文字方塊 2">
            <a:extLst>
              <a:ext uri="{FF2B5EF4-FFF2-40B4-BE49-F238E27FC236}">
                <a16:creationId xmlns:a16="http://schemas.microsoft.com/office/drawing/2014/main" id="{B719A453-84F5-0AFF-5E24-B353E01E2601}"/>
              </a:ext>
            </a:extLst>
          </p:cNvPr>
          <p:cNvSpPr txBox="1"/>
          <p:nvPr/>
        </p:nvSpPr>
        <p:spPr>
          <a:xfrm>
            <a:off x="4324865" y="2509191"/>
            <a:ext cx="4217773"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分為非本行客戶四步驟</a:t>
            </a:r>
            <a:r>
              <a:rPr lang="en-US" altLang="zh-TW" dirty="0"/>
              <a:t>(p.8-11)</a:t>
            </a:r>
            <a:r>
              <a:rPr lang="zh-TW" altLang="en-US" dirty="0"/>
              <a:t>、本行客戶三步驟</a:t>
            </a:r>
            <a:r>
              <a:rPr lang="en-US" altLang="zh-TW" dirty="0"/>
              <a:t>(p.12-14)</a:t>
            </a:r>
            <a:endParaRPr lang="zh-TW" altLang="en-US" dirty="0"/>
          </a:p>
        </p:txBody>
      </p:sp>
      <p:sp>
        <p:nvSpPr>
          <p:cNvPr id="6" name="文字方塊 5">
            <a:extLst>
              <a:ext uri="{FF2B5EF4-FFF2-40B4-BE49-F238E27FC236}">
                <a16:creationId xmlns:a16="http://schemas.microsoft.com/office/drawing/2014/main" id="{EAFF26C0-74DB-E03A-74CB-B911B73BFE9F}"/>
              </a:ext>
            </a:extLst>
          </p:cNvPr>
          <p:cNvSpPr txBox="1"/>
          <p:nvPr/>
        </p:nvSpPr>
        <p:spPr>
          <a:xfrm>
            <a:off x="4617308" y="6228149"/>
            <a:ext cx="3389870"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依個別步驟置換</a:t>
            </a:r>
            <a:r>
              <a:rPr lang="en-US" altLang="zh-TW" dirty="0"/>
              <a:t>1.</a:t>
            </a:r>
            <a:r>
              <a:rPr lang="zh-TW" altLang="en-US" b="1" dirty="0"/>
              <a:t>文字</a:t>
            </a:r>
            <a:r>
              <a:rPr lang="en-US" altLang="zh-TW" b="1" dirty="0"/>
              <a:t>+2.mma</a:t>
            </a:r>
            <a:r>
              <a:rPr lang="zh-TW" altLang="en-US" b="1" dirty="0"/>
              <a:t>畫面示意圖檔</a:t>
            </a:r>
          </a:p>
        </p:txBody>
      </p:sp>
    </p:spTree>
    <p:extLst>
      <p:ext uri="{BB962C8B-B14F-4D97-AF65-F5344CB8AC3E}">
        <p14:creationId xmlns:p14="http://schemas.microsoft.com/office/powerpoint/2010/main" val="1230208785"/>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zh-CN" altLang="en-US" b="1" dirty="0"/>
              <a:t>非</a:t>
            </a:r>
            <a:r>
              <a:rPr kumimoji="1" lang="zh-TW" altLang="en-US" b="1" dirty="0"/>
              <a:t>永豐客戶攜入庫存</a:t>
            </a:r>
            <a:r>
              <a:rPr kumimoji="1" lang="en-US" altLang="zh-TW" b="1" dirty="0"/>
              <a:t>_</a:t>
            </a:r>
            <a:r>
              <a:rPr kumimoji="1" lang="zh-TW" altLang="en-US" b="1" dirty="0"/>
              <a:t>步驟圖一</a:t>
            </a:r>
          </a:p>
        </p:txBody>
      </p:sp>
      <p:sp>
        <p:nvSpPr>
          <p:cNvPr id="5" name="文字方塊 4">
            <a:extLst>
              <a:ext uri="{FF2B5EF4-FFF2-40B4-BE49-F238E27FC236}">
                <a16:creationId xmlns:a16="http://schemas.microsoft.com/office/drawing/2014/main" id="{9750EE0D-4CA0-8274-01E1-30896F8AFF0B}"/>
              </a:ext>
            </a:extLst>
          </p:cNvPr>
          <p:cNvSpPr txBox="1"/>
          <p:nvPr/>
        </p:nvSpPr>
        <p:spPr>
          <a:xfrm>
            <a:off x="434547" y="832307"/>
            <a:ext cx="5976550"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STEP 1</a:t>
            </a:r>
            <a:r>
              <a:rPr kumimoji="1" lang="zh-TW" altLang="en-US"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 文字：</a:t>
            </a:r>
            <a:r>
              <a:rPr kumimoji="1" lang="zh-CN"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線上開立</a:t>
            </a:r>
            <a:r>
              <a:rPr kumimoji="1" lang="zh-CN" altLang="en-US" sz="2000" b="0" i="0" u="sng" strike="noStrike" kern="1200" cap="none" spc="0" normalizeH="0" baseline="0" noProof="0" dirty="0">
                <a:ln>
                  <a:noFill/>
                </a:ln>
                <a:solidFill>
                  <a:srgbClr val="0070C0"/>
                </a:solidFill>
                <a:effectLst/>
                <a:uLnTx/>
                <a:uFillTx/>
                <a:latin typeface="Microsoft JhengHei" panose="020B0604030504040204" pitchFamily="34" charset="-120"/>
                <a:ea typeface="Microsoft JhengHei" panose="020B0604030504040204" pitchFamily="34" charset="-120"/>
                <a:cs typeface="+mn-cs"/>
              </a:rPr>
              <a:t>永豐信託帳戶</a:t>
            </a:r>
            <a:endParaRPr kumimoji="1" lang="zh-TW" altLang="en-US" sz="2000" b="0" i="0" u="sng" strike="noStrike" kern="1200" cap="none" spc="0" normalizeH="0" baseline="0" noProof="0" dirty="0">
              <a:ln>
                <a:noFill/>
              </a:ln>
              <a:solidFill>
                <a:srgbClr val="0070C0"/>
              </a:solidFill>
              <a:effectLst/>
              <a:uLnTx/>
              <a:uFillTx/>
              <a:latin typeface="Microsoft JhengHei" panose="020B0604030504040204" pitchFamily="34" charset="-120"/>
              <a:ea typeface="Microsoft JhengHei" panose="020B0604030504040204" pitchFamily="34" charset="-120"/>
              <a:cs typeface="+mn-cs"/>
            </a:endParaRPr>
          </a:p>
        </p:txBody>
      </p:sp>
      <p:pic>
        <p:nvPicPr>
          <p:cNvPr id="4" name="圖片 3" descr="一張含有 文字, 螢幕擷取畫面, 軟體, 網頁 的圖片&#10;&#10;自動產生的描述">
            <a:extLst>
              <a:ext uri="{FF2B5EF4-FFF2-40B4-BE49-F238E27FC236}">
                <a16:creationId xmlns:a16="http://schemas.microsoft.com/office/drawing/2014/main" id="{F23DBB34-702A-B039-53AD-D50D17D497F1}"/>
              </a:ext>
            </a:extLst>
          </p:cNvPr>
          <p:cNvPicPr>
            <a:picLocks noChangeAspect="1"/>
          </p:cNvPicPr>
          <p:nvPr/>
        </p:nvPicPr>
        <p:blipFill rotWithShape="1">
          <a:blip r:embed="rId3">
            <a:extLst>
              <a:ext uri="{28A0092B-C50C-407E-A947-70E740481C1C}">
                <a14:useLocalDpi xmlns:a14="http://schemas.microsoft.com/office/drawing/2010/main" val="0"/>
              </a:ext>
            </a:extLst>
          </a:blip>
          <a:srcRect l="22240" t="7227" r="25389" b="25602"/>
          <a:stretch/>
        </p:blipFill>
        <p:spPr>
          <a:xfrm>
            <a:off x="2657475" y="1417336"/>
            <a:ext cx="6257925" cy="4514850"/>
          </a:xfrm>
          <a:prstGeom prst="rect">
            <a:avLst/>
          </a:prstGeom>
        </p:spPr>
      </p:pic>
      <p:sp>
        <p:nvSpPr>
          <p:cNvPr id="3" name="文字方塊 2">
            <a:extLst>
              <a:ext uri="{FF2B5EF4-FFF2-40B4-BE49-F238E27FC236}">
                <a16:creationId xmlns:a16="http://schemas.microsoft.com/office/drawing/2014/main" id="{E245BD52-2AAB-9D0F-D3D4-B7A6D6A87D00}"/>
              </a:ext>
            </a:extLst>
          </p:cNvPr>
          <p:cNvSpPr txBox="1"/>
          <p:nvPr/>
        </p:nvSpPr>
        <p:spPr>
          <a:xfrm>
            <a:off x="3913385" y="2486331"/>
            <a:ext cx="2849841"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以數位設計科提供的操作示意圖為準</a:t>
            </a:r>
          </a:p>
        </p:txBody>
      </p:sp>
    </p:spTree>
    <p:extLst>
      <p:ext uri="{BB962C8B-B14F-4D97-AF65-F5344CB8AC3E}">
        <p14:creationId xmlns:p14="http://schemas.microsoft.com/office/powerpoint/2010/main" val="3905964499"/>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zh-CN" altLang="en-US" b="1" dirty="0"/>
              <a:t>非</a:t>
            </a:r>
            <a:r>
              <a:rPr kumimoji="1" lang="zh-TW" altLang="en-US" b="1" dirty="0"/>
              <a:t>永豐客戶攜入庫存</a:t>
            </a:r>
            <a:r>
              <a:rPr kumimoji="1" lang="en-US" altLang="zh-TW" b="1" dirty="0"/>
              <a:t>_</a:t>
            </a:r>
            <a:r>
              <a:rPr kumimoji="1" lang="zh-TW" altLang="en-US" b="1" dirty="0"/>
              <a:t>步驟圖二</a:t>
            </a:r>
          </a:p>
        </p:txBody>
      </p:sp>
      <p:sp>
        <p:nvSpPr>
          <p:cNvPr id="3" name="文字方塊 2">
            <a:extLst>
              <a:ext uri="{FF2B5EF4-FFF2-40B4-BE49-F238E27FC236}">
                <a16:creationId xmlns:a16="http://schemas.microsoft.com/office/drawing/2014/main" id="{F6E6D56F-F31C-B429-712C-0DA66764A93B}"/>
              </a:ext>
            </a:extLst>
          </p:cNvPr>
          <p:cNvSpPr txBox="1"/>
          <p:nvPr/>
        </p:nvSpPr>
        <p:spPr>
          <a:xfrm>
            <a:off x="358604" y="832307"/>
            <a:ext cx="6676509"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STEP 2</a:t>
            </a:r>
            <a:r>
              <a:rPr kumimoji="1" lang="zh-TW" altLang="en-US"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 文字： </a:t>
            </a:r>
            <a:r>
              <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線上簽署</a:t>
            </a:r>
            <a:r>
              <a:rPr kumimoji="1" lang="zh-TW" altLang="en-US" sz="2000" b="0" i="0" u="sng" strike="noStrike" kern="1200" cap="none" spc="0" normalizeH="0" baseline="0" noProof="0" dirty="0">
                <a:ln>
                  <a:noFill/>
                </a:ln>
                <a:solidFill>
                  <a:srgbClr val="0070C0"/>
                </a:solidFill>
                <a:effectLst/>
                <a:uLnTx/>
                <a:uFillTx/>
                <a:latin typeface="Microsoft JhengHei" panose="020B0604030504040204" pitchFamily="34" charset="-120"/>
                <a:ea typeface="Microsoft JhengHei" panose="020B0604030504040204" pitchFamily="34" charset="-120"/>
                <a:cs typeface="+mn-cs"/>
              </a:rPr>
              <a:t>退休帳戶可攜約定條款</a:t>
            </a:r>
          </a:p>
        </p:txBody>
      </p:sp>
      <p:pic>
        <p:nvPicPr>
          <p:cNvPr id="8" name="圖片 7">
            <a:extLst>
              <a:ext uri="{FF2B5EF4-FFF2-40B4-BE49-F238E27FC236}">
                <a16:creationId xmlns:a16="http://schemas.microsoft.com/office/drawing/2014/main" id="{1CABB397-BA34-2C96-D28D-D72C19F55D74}"/>
              </a:ext>
            </a:extLst>
          </p:cNvPr>
          <p:cNvPicPr>
            <a:picLocks noChangeAspect="1"/>
          </p:cNvPicPr>
          <p:nvPr/>
        </p:nvPicPr>
        <p:blipFill rotWithShape="1">
          <a:blip r:embed="rId2"/>
          <a:srcRect l="23914" t="10344" r="24751" b="17241"/>
          <a:stretch/>
        </p:blipFill>
        <p:spPr>
          <a:xfrm>
            <a:off x="2714626" y="1417336"/>
            <a:ext cx="6134100" cy="4867275"/>
          </a:xfrm>
          <a:prstGeom prst="rect">
            <a:avLst/>
          </a:prstGeom>
        </p:spPr>
      </p:pic>
      <p:sp>
        <p:nvSpPr>
          <p:cNvPr id="4" name="文字方塊 3">
            <a:extLst>
              <a:ext uri="{FF2B5EF4-FFF2-40B4-BE49-F238E27FC236}">
                <a16:creationId xmlns:a16="http://schemas.microsoft.com/office/drawing/2014/main" id="{1F69E5E1-0794-30C1-6B1C-16E02BA8BD11}"/>
              </a:ext>
            </a:extLst>
          </p:cNvPr>
          <p:cNvSpPr txBox="1"/>
          <p:nvPr/>
        </p:nvSpPr>
        <p:spPr>
          <a:xfrm>
            <a:off x="5044955" y="2497761"/>
            <a:ext cx="2849841"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以數位設計科提供的操作示意圖為準</a:t>
            </a:r>
          </a:p>
        </p:txBody>
      </p:sp>
    </p:spTree>
    <p:extLst>
      <p:ext uri="{BB962C8B-B14F-4D97-AF65-F5344CB8AC3E}">
        <p14:creationId xmlns:p14="http://schemas.microsoft.com/office/powerpoint/2010/main" val="327510802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zh-CN" altLang="en-US" b="1" dirty="0"/>
              <a:t>非</a:t>
            </a:r>
            <a:r>
              <a:rPr kumimoji="1" lang="zh-TW" altLang="en-US" b="1" dirty="0"/>
              <a:t>永豐客戶攜入庫存</a:t>
            </a:r>
            <a:r>
              <a:rPr kumimoji="1" lang="en-US" altLang="zh-TW" b="1" dirty="0"/>
              <a:t>_</a:t>
            </a:r>
            <a:r>
              <a:rPr kumimoji="1" lang="zh-TW" altLang="en-US" b="1" dirty="0"/>
              <a:t>步驟圖三</a:t>
            </a:r>
          </a:p>
        </p:txBody>
      </p:sp>
      <p:sp>
        <p:nvSpPr>
          <p:cNvPr id="3" name="文字方塊 2">
            <a:extLst>
              <a:ext uri="{FF2B5EF4-FFF2-40B4-BE49-F238E27FC236}">
                <a16:creationId xmlns:a16="http://schemas.microsoft.com/office/drawing/2014/main" id="{737FC639-4A41-12B9-3760-6D6B08AAB959}"/>
              </a:ext>
            </a:extLst>
          </p:cNvPr>
          <p:cNvSpPr txBox="1"/>
          <p:nvPr/>
        </p:nvSpPr>
        <p:spPr>
          <a:xfrm>
            <a:off x="358604" y="832307"/>
            <a:ext cx="6676509"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STEP 3</a:t>
            </a:r>
            <a:r>
              <a:rPr kumimoji="1" lang="zh-TW" altLang="en-US"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 文字：</a:t>
            </a:r>
            <a:r>
              <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下載信託帳戶退休可攜開戶證明書</a:t>
            </a:r>
          </a:p>
        </p:txBody>
      </p:sp>
      <p:pic>
        <p:nvPicPr>
          <p:cNvPr id="7" name="圖片 6">
            <a:extLst>
              <a:ext uri="{FF2B5EF4-FFF2-40B4-BE49-F238E27FC236}">
                <a16:creationId xmlns:a16="http://schemas.microsoft.com/office/drawing/2014/main" id="{09A10730-0C29-12F6-5570-66A825849202}"/>
              </a:ext>
            </a:extLst>
          </p:cNvPr>
          <p:cNvPicPr>
            <a:picLocks noChangeAspect="1"/>
          </p:cNvPicPr>
          <p:nvPr/>
        </p:nvPicPr>
        <p:blipFill rotWithShape="1">
          <a:blip r:embed="rId2"/>
          <a:srcRect l="22319" t="6518" r="24751" b="24185"/>
          <a:stretch/>
        </p:blipFill>
        <p:spPr>
          <a:xfrm>
            <a:off x="2324101" y="1384102"/>
            <a:ext cx="6324600" cy="4657726"/>
          </a:xfrm>
          <a:prstGeom prst="rect">
            <a:avLst/>
          </a:prstGeom>
        </p:spPr>
      </p:pic>
      <p:sp>
        <p:nvSpPr>
          <p:cNvPr id="10" name="矩形 9">
            <a:extLst>
              <a:ext uri="{FF2B5EF4-FFF2-40B4-BE49-F238E27FC236}">
                <a16:creationId xmlns:a16="http://schemas.microsoft.com/office/drawing/2014/main" id="{D33F0B4A-DA26-9F66-D7CF-821338727E7F}"/>
              </a:ext>
            </a:extLst>
          </p:cNvPr>
          <p:cNvSpPr/>
          <p:nvPr/>
        </p:nvSpPr>
        <p:spPr bwMode="auto">
          <a:xfrm>
            <a:off x="2895600" y="3833800"/>
            <a:ext cx="1752600" cy="259063"/>
          </a:xfrm>
          <a:prstGeom prst="rect">
            <a:avLst/>
          </a:prstGeom>
          <a:noFill/>
          <a:ln w="9525" cap="flat" cmpd="sng" algn="ctr">
            <a:solidFill>
              <a:srgbClr val="FF0000"/>
            </a:solidFill>
            <a:prstDash val="dash"/>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zh-TW" altLang="en-US" sz="4000" b="1" i="0" u="none" strike="noStrike" kern="1200" cap="none" spc="0" normalizeH="0" baseline="0" noProof="0">
              <a:ln>
                <a:noFill/>
              </a:ln>
              <a:solidFill>
                <a:prstClr val="black"/>
              </a:solidFill>
              <a:effectLst/>
              <a:uLnTx/>
              <a:uFillTx/>
              <a:latin typeface="Arial" charset="0"/>
              <a:ea typeface="华文楷体" pitchFamily="2" charset="-122"/>
              <a:cs typeface="+mn-cs"/>
            </a:endParaRPr>
          </a:p>
        </p:txBody>
      </p:sp>
      <p:sp>
        <p:nvSpPr>
          <p:cNvPr id="4" name="文字方塊 3">
            <a:extLst>
              <a:ext uri="{FF2B5EF4-FFF2-40B4-BE49-F238E27FC236}">
                <a16:creationId xmlns:a16="http://schemas.microsoft.com/office/drawing/2014/main" id="{F75CB17F-B81D-F74C-0B0A-D9701C9DA266}"/>
              </a:ext>
            </a:extLst>
          </p:cNvPr>
          <p:cNvSpPr txBox="1"/>
          <p:nvPr/>
        </p:nvSpPr>
        <p:spPr>
          <a:xfrm>
            <a:off x="4648200" y="2470452"/>
            <a:ext cx="2849841"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以數位設計科提供的操作示意圖為準</a:t>
            </a:r>
          </a:p>
        </p:txBody>
      </p:sp>
    </p:spTree>
    <p:extLst>
      <p:ext uri="{BB962C8B-B14F-4D97-AF65-F5344CB8AC3E}">
        <p14:creationId xmlns:p14="http://schemas.microsoft.com/office/powerpoint/2010/main" val="340945838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zh-CN" altLang="en-US" b="1" dirty="0"/>
              <a:t>非</a:t>
            </a:r>
            <a:r>
              <a:rPr kumimoji="1" lang="zh-TW" altLang="en-US" b="1" dirty="0"/>
              <a:t>永豐客戶攜入庫存</a:t>
            </a:r>
            <a:r>
              <a:rPr kumimoji="1" lang="en-US" altLang="zh-TW" b="1" dirty="0"/>
              <a:t>_</a:t>
            </a:r>
            <a:r>
              <a:rPr kumimoji="1" lang="zh-TW" altLang="en-US" b="1" dirty="0"/>
              <a:t>步驟圖四</a:t>
            </a:r>
          </a:p>
        </p:txBody>
      </p:sp>
      <p:sp>
        <p:nvSpPr>
          <p:cNvPr id="3" name="文字方塊 2">
            <a:extLst>
              <a:ext uri="{FF2B5EF4-FFF2-40B4-BE49-F238E27FC236}">
                <a16:creationId xmlns:a16="http://schemas.microsoft.com/office/drawing/2014/main" id="{335C1915-4C30-6B7E-0FF3-2E8F7BBE471A}"/>
              </a:ext>
            </a:extLst>
          </p:cNvPr>
          <p:cNvSpPr txBox="1"/>
          <p:nvPr/>
        </p:nvSpPr>
        <p:spPr>
          <a:xfrm>
            <a:off x="358604" y="832307"/>
            <a:ext cx="11281461" cy="1138773"/>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STEP 4</a:t>
            </a:r>
            <a:r>
              <a:rPr kumimoji="1" lang="zh-TW" altLang="en-US"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 文字： </a:t>
            </a:r>
            <a:r>
              <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攜帶永豐銀行退休信託帳戶可攜開戶證明書至移出銀行，</a:t>
            </a:r>
            <a:endParaRPr kumimoji="1" lang="en-US" altLang="zh-TW"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                                      申請退休可攜基金移入永豐銀行</a:t>
            </a:r>
            <a:endParaRPr kumimoji="1" lang="en-US" altLang="zh-TW"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sp>
        <p:nvSpPr>
          <p:cNvPr id="4" name="文字方塊 3">
            <a:extLst>
              <a:ext uri="{FF2B5EF4-FFF2-40B4-BE49-F238E27FC236}">
                <a16:creationId xmlns:a16="http://schemas.microsoft.com/office/drawing/2014/main" id="{F21BC90F-28C3-BFAA-D5FB-2AD299815A59}"/>
              </a:ext>
            </a:extLst>
          </p:cNvPr>
          <p:cNvSpPr txBox="1"/>
          <p:nvPr/>
        </p:nvSpPr>
        <p:spPr>
          <a:xfrm>
            <a:off x="889687" y="3160682"/>
            <a:ext cx="1717137" cy="369332"/>
          </a:xfrm>
          <a:prstGeom prst="rect">
            <a:avLst/>
          </a:prstGeom>
          <a:noFill/>
        </p:spPr>
        <p:txBody>
          <a:bodyPr wrap="non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TW" sz="1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r>
              <a:rPr kumimoji="0" lang="zh-TW" altLang="en-US" sz="1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臨櫃申請插圖</a:t>
            </a:r>
            <a:r>
              <a:rPr kumimoji="0" lang="en-US" altLang="zh-TW" sz="1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endParaRPr kumimoji="0" lang="zh-TW" altLang="en-US" sz="18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endParaRPr>
          </a:p>
        </p:txBody>
      </p:sp>
      <p:sp>
        <p:nvSpPr>
          <p:cNvPr id="5" name="文字方塊 4">
            <a:extLst>
              <a:ext uri="{FF2B5EF4-FFF2-40B4-BE49-F238E27FC236}">
                <a16:creationId xmlns:a16="http://schemas.microsoft.com/office/drawing/2014/main" id="{CBF12C37-BD83-C76A-5CE3-10E070F96D16}"/>
              </a:ext>
            </a:extLst>
          </p:cNvPr>
          <p:cNvSpPr txBox="1"/>
          <p:nvPr/>
        </p:nvSpPr>
        <p:spPr>
          <a:xfrm>
            <a:off x="2804675" y="3222237"/>
            <a:ext cx="2849841"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以數位設計科提供的插圖為準</a:t>
            </a:r>
          </a:p>
        </p:txBody>
      </p:sp>
    </p:spTree>
    <p:extLst>
      <p:ext uri="{BB962C8B-B14F-4D97-AF65-F5344CB8AC3E}">
        <p14:creationId xmlns:p14="http://schemas.microsoft.com/office/powerpoint/2010/main" val="164968606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zh-TW" altLang="en-US" b="1" dirty="0"/>
              <a:t>永豐客戶申購可攜基金</a:t>
            </a:r>
            <a:r>
              <a:rPr kumimoji="1" lang="en-US" altLang="zh-TW" b="1" dirty="0"/>
              <a:t>_</a:t>
            </a:r>
            <a:r>
              <a:rPr kumimoji="1" lang="zh-TW" altLang="en-US" b="1" dirty="0"/>
              <a:t>步驟圖一</a:t>
            </a:r>
          </a:p>
        </p:txBody>
      </p:sp>
      <p:sp>
        <p:nvSpPr>
          <p:cNvPr id="3" name="文字方塊 2">
            <a:extLst>
              <a:ext uri="{FF2B5EF4-FFF2-40B4-BE49-F238E27FC236}">
                <a16:creationId xmlns:a16="http://schemas.microsoft.com/office/drawing/2014/main" id="{2B0A0E61-6397-6FFD-6A04-4A0F891AF8CC}"/>
              </a:ext>
            </a:extLst>
          </p:cNvPr>
          <p:cNvSpPr txBox="1"/>
          <p:nvPr/>
        </p:nvSpPr>
        <p:spPr>
          <a:xfrm>
            <a:off x="358604" y="832307"/>
            <a:ext cx="11281461"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STEP 1</a:t>
            </a:r>
            <a:r>
              <a:rPr kumimoji="1" lang="zh-TW" altLang="en-US"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 文字：</a:t>
            </a:r>
            <a:r>
              <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rPr>
              <a:t>線上簽署</a:t>
            </a:r>
            <a:r>
              <a:rPr kumimoji="1" lang="zh-TW" altLang="en-US" sz="2000" b="0" i="0" u="sng" strike="noStrike" kern="1200" cap="none" spc="0" normalizeH="0" baseline="0" noProof="0" dirty="0">
                <a:ln>
                  <a:noFill/>
                </a:ln>
                <a:solidFill>
                  <a:srgbClr val="0070C0"/>
                </a:solidFill>
                <a:effectLst/>
                <a:uLnTx/>
                <a:uFillTx/>
                <a:latin typeface="Microsoft JhengHei" panose="020B0604030504040204" pitchFamily="34" charset="-120"/>
                <a:ea typeface="Microsoft JhengHei" panose="020B0604030504040204" pitchFamily="34" charset="-120"/>
                <a:cs typeface="+mn-cs"/>
              </a:rPr>
              <a:t>退休帳戶可攜約定條款</a:t>
            </a:r>
            <a:endPar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pic>
        <p:nvPicPr>
          <p:cNvPr id="5" name="圖片 4">
            <a:extLst>
              <a:ext uri="{FF2B5EF4-FFF2-40B4-BE49-F238E27FC236}">
                <a16:creationId xmlns:a16="http://schemas.microsoft.com/office/drawing/2014/main" id="{C21153C5-02C1-8011-98CC-0BD0372A542A}"/>
              </a:ext>
            </a:extLst>
          </p:cNvPr>
          <p:cNvPicPr>
            <a:picLocks noChangeAspect="1"/>
          </p:cNvPicPr>
          <p:nvPr/>
        </p:nvPicPr>
        <p:blipFill rotWithShape="1">
          <a:blip r:embed="rId2"/>
          <a:srcRect l="23914" t="10344" r="24751" b="17241"/>
          <a:stretch/>
        </p:blipFill>
        <p:spPr>
          <a:xfrm>
            <a:off x="2714626" y="1417336"/>
            <a:ext cx="6134100" cy="4867275"/>
          </a:xfrm>
          <a:prstGeom prst="rect">
            <a:avLst/>
          </a:prstGeom>
        </p:spPr>
      </p:pic>
      <p:sp>
        <p:nvSpPr>
          <p:cNvPr id="4" name="文字方塊 3">
            <a:extLst>
              <a:ext uri="{FF2B5EF4-FFF2-40B4-BE49-F238E27FC236}">
                <a16:creationId xmlns:a16="http://schemas.microsoft.com/office/drawing/2014/main" id="{BBC948B3-0D92-5763-2EDA-4ACAD843A3CF}"/>
              </a:ext>
            </a:extLst>
          </p:cNvPr>
          <p:cNvSpPr txBox="1"/>
          <p:nvPr/>
        </p:nvSpPr>
        <p:spPr>
          <a:xfrm>
            <a:off x="5002530" y="2516172"/>
            <a:ext cx="2849841"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以數位設計科提供的操作示意圖為準</a:t>
            </a:r>
          </a:p>
        </p:txBody>
      </p:sp>
    </p:spTree>
    <p:extLst>
      <p:ext uri="{BB962C8B-B14F-4D97-AF65-F5344CB8AC3E}">
        <p14:creationId xmlns:p14="http://schemas.microsoft.com/office/powerpoint/2010/main" val="1850120531"/>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zh-TW" altLang="en-US" b="1" dirty="0"/>
              <a:t>永豐客戶申購可攜基金</a:t>
            </a:r>
            <a:r>
              <a:rPr kumimoji="1" lang="en-US" altLang="zh-TW" b="1" dirty="0"/>
              <a:t>_</a:t>
            </a:r>
            <a:r>
              <a:rPr kumimoji="1" lang="zh-TW" altLang="en-US" b="1" dirty="0"/>
              <a:t>步驟圖二</a:t>
            </a:r>
          </a:p>
        </p:txBody>
      </p:sp>
      <p:sp>
        <p:nvSpPr>
          <p:cNvPr id="5" name="文字方塊 4">
            <a:extLst>
              <a:ext uri="{FF2B5EF4-FFF2-40B4-BE49-F238E27FC236}">
                <a16:creationId xmlns:a16="http://schemas.microsoft.com/office/drawing/2014/main" id="{E072CD41-84EF-832D-D8E1-CFBF8336BD36}"/>
              </a:ext>
            </a:extLst>
          </p:cNvPr>
          <p:cNvSpPr txBox="1"/>
          <p:nvPr/>
        </p:nvSpPr>
        <p:spPr>
          <a:xfrm>
            <a:off x="358604" y="832307"/>
            <a:ext cx="11281461"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STEP 2</a:t>
            </a:r>
            <a:r>
              <a:rPr kumimoji="1" lang="zh-TW" altLang="en-US"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 文字： </a:t>
            </a:r>
            <a:r>
              <a:rPr kumimoji="1"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線上約定定時</a:t>
            </a:r>
            <a:r>
              <a:rPr kumimoji="1"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r>
              <a:rPr kumimoji="1"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不</a:t>
            </a:r>
            <a:r>
              <a:rPr kumimoji="1" lang="en-US" altLang="zh-TW"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a:t>
            </a:r>
            <a:r>
              <a:rPr kumimoji="1"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定額投資方式</a:t>
            </a:r>
            <a:endParaRPr kumimoji="1" lang="zh-TW" altLang="en-US" sz="2000" b="0" i="0" u="none" strike="noStrike" kern="1200" cap="none" spc="0" normalizeH="0" baseline="0" noProof="0" dirty="0">
              <a:ln>
                <a:noFill/>
              </a:ln>
              <a:solidFill>
                <a:prstClr val="black"/>
              </a:solidFill>
              <a:effectLst/>
              <a:uLnTx/>
              <a:uFillTx/>
              <a:latin typeface="Microsoft JhengHei" panose="020B0604030504040204" pitchFamily="34" charset="-120"/>
              <a:ea typeface="Microsoft JhengHei" panose="020B0604030504040204" pitchFamily="34" charset="-120"/>
              <a:cs typeface="+mn-cs"/>
            </a:endParaRPr>
          </a:p>
        </p:txBody>
      </p:sp>
      <p:pic>
        <p:nvPicPr>
          <p:cNvPr id="4" name="圖片 3">
            <a:extLst>
              <a:ext uri="{FF2B5EF4-FFF2-40B4-BE49-F238E27FC236}">
                <a16:creationId xmlns:a16="http://schemas.microsoft.com/office/drawing/2014/main" id="{34649BD9-BCE6-F359-07D8-17BDE1DEEE15}"/>
              </a:ext>
            </a:extLst>
          </p:cNvPr>
          <p:cNvPicPr>
            <a:picLocks noChangeAspect="1"/>
          </p:cNvPicPr>
          <p:nvPr/>
        </p:nvPicPr>
        <p:blipFill rotWithShape="1">
          <a:blip r:embed="rId2"/>
          <a:srcRect l="22161" t="10061" r="23714" b="34530"/>
          <a:stretch/>
        </p:blipFill>
        <p:spPr>
          <a:xfrm>
            <a:off x="2409825" y="1752600"/>
            <a:ext cx="6467475" cy="3724275"/>
          </a:xfrm>
          <a:prstGeom prst="rect">
            <a:avLst/>
          </a:prstGeom>
        </p:spPr>
      </p:pic>
      <p:sp>
        <p:nvSpPr>
          <p:cNvPr id="3" name="文字方塊 2">
            <a:extLst>
              <a:ext uri="{FF2B5EF4-FFF2-40B4-BE49-F238E27FC236}">
                <a16:creationId xmlns:a16="http://schemas.microsoft.com/office/drawing/2014/main" id="{2E771181-4C03-3D88-4609-20584A9705BB}"/>
              </a:ext>
            </a:extLst>
          </p:cNvPr>
          <p:cNvSpPr txBox="1"/>
          <p:nvPr/>
        </p:nvSpPr>
        <p:spPr>
          <a:xfrm>
            <a:off x="4785360" y="2687622"/>
            <a:ext cx="2849841"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以數位設計科提供的操作示意圖為準</a:t>
            </a:r>
          </a:p>
        </p:txBody>
      </p:sp>
    </p:spTree>
    <p:extLst>
      <p:ext uri="{BB962C8B-B14F-4D97-AF65-F5344CB8AC3E}">
        <p14:creationId xmlns:p14="http://schemas.microsoft.com/office/powerpoint/2010/main" val="3817232684"/>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zh-TW" altLang="en-US" b="1" dirty="0"/>
              <a:t>永豐客戶申購可攜基金</a:t>
            </a:r>
            <a:r>
              <a:rPr kumimoji="1" lang="en-US" altLang="zh-TW" b="1" dirty="0"/>
              <a:t>_</a:t>
            </a:r>
            <a:r>
              <a:rPr kumimoji="1" lang="zh-TW" altLang="en-US" b="1" dirty="0"/>
              <a:t>步驟圖三</a:t>
            </a:r>
          </a:p>
        </p:txBody>
      </p:sp>
      <p:sp>
        <p:nvSpPr>
          <p:cNvPr id="5" name="文字方塊 4">
            <a:extLst>
              <a:ext uri="{FF2B5EF4-FFF2-40B4-BE49-F238E27FC236}">
                <a16:creationId xmlns:a16="http://schemas.microsoft.com/office/drawing/2014/main" id="{02D9638C-C2B4-3F4C-B1A7-E01A240B7638}"/>
              </a:ext>
            </a:extLst>
          </p:cNvPr>
          <p:cNvSpPr txBox="1"/>
          <p:nvPr/>
        </p:nvSpPr>
        <p:spPr>
          <a:xfrm>
            <a:off x="358604" y="832307"/>
            <a:ext cx="11281461" cy="523220"/>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TW"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STEP 3</a:t>
            </a:r>
            <a:r>
              <a:rPr kumimoji="1" lang="zh-TW" altLang="en-US" sz="2800" b="1" i="0" u="none" strike="noStrike" kern="1200" cap="none" spc="0" normalizeH="0" baseline="0" noProof="0" dirty="0">
                <a:ln>
                  <a:noFill/>
                </a:ln>
                <a:solidFill>
                  <a:srgbClr val="FF5453"/>
                </a:solidFill>
                <a:effectLst/>
                <a:uLnTx/>
                <a:uFillTx/>
                <a:latin typeface="微軟正黑體" panose="020B0604030504040204" pitchFamily="34" charset="-120"/>
                <a:ea typeface="微軟正黑體" panose="020B0604030504040204" pitchFamily="34" charset="-120"/>
                <a:cs typeface="+mn-cs"/>
              </a:rPr>
              <a:t> 文字： </a:t>
            </a:r>
            <a:r>
              <a:rPr kumimoji="1" lang="zh-TW" altLang="en-US" sz="2000" b="0" i="0" u="none" strike="noStrike" kern="120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n-cs"/>
              </a:rPr>
              <a:t>退休可攜基金</a:t>
            </a:r>
            <a:r>
              <a:rPr kumimoji="1" lang="zh-TW" altLang="en-US" sz="2000" b="0" i="0" u="sng" strike="noStrike" kern="1200" cap="none" spc="0" normalizeH="0" baseline="0" noProof="0" dirty="0">
                <a:ln>
                  <a:noFill/>
                </a:ln>
                <a:solidFill>
                  <a:srgbClr val="0070C0"/>
                </a:solidFill>
                <a:effectLst/>
                <a:uLnTx/>
                <a:uFillTx/>
                <a:latin typeface="Microsoft JhengHei" panose="020B0604030504040204" pitchFamily="34" charset="-120"/>
                <a:ea typeface="Microsoft JhengHei" panose="020B0604030504040204" pitchFamily="34" charset="-120"/>
                <a:cs typeface="+mn-cs"/>
              </a:rPr>
              <a:t>瀏覽選擇</a:t>
            </a:r>
          </a:p>
        </p:txBody>
      </p:sp>
      <p:pic>
        <p:nvPicPr>
          <p:cNvPr id="14" name="圖片 13">
            <a:extLst>
              <a:ext uri="{FF2B5EF4-FFF2-40B4-BE49-F238E27FC236}">
                <a16:creationId xmlns:a16="http://schemas.microsoft.com/office/drawing/2014/main" id="{D5BBA444-A0FB-44AB-FBB9-23D1A6823280}"/>
              </a:ext>
            </a:extLst>
          </p:cNvPr>
          <p:cNvPicPr>
            <a:picLocks noChangeAspect="1"/>
          </p:cNvPicPr>
          <p:nvPr/>
        </p:nvPicPr>
        <p:blipFill rotWithShape="1">
          <a:blip r:embed="rId2"/>
          <a:srcRect l="21125" t="7085" r="24431" b="17808"/>
          <a:stretch/>
        </p:blipFill>
        <p:spPr>
          <a:xfrm>
            <a:off x="2533650" y="1276349"/>
            <a:ext cx="6505575" cy="5048251"/>
          </a:xfrm>
          <a:prstGeom prst="rect">
            <a:avLst/>
          </a:prstGeom>
        </p:spPr>
      </p:pic>
      <p:sp>
        <p:nvSpPr>
          <p:cNvPr id="3" name="文字方塊 2">
            <a:extLst>
              <a:ext uri="{FF2B5EF4-FFF2-40B4-BE49-F238E27FC236}">
                <a16:creationId xmlns:a16="http://schemas.microsoft.com/office/drawing/2014/main" id="{7C5A5C75-E2C3-4B62-303E-3D6A26C24E9F}"/>
              </a:ext>
            </a:extLst>
          </p:cNvPr>
          <p:cNvSpPr txBox="1"/>
          <p:nvPr/>
        </p:nvSpPr>
        <p:spPr>
          <a:xfrm>
            <a:off x="4122420" y="2367582"/>
            <a:ext cx="2849841"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t>以數位設計科提供的操作示意圖為準</a:t>
            </a:r>
          </a:p>
        </p:txBody>
      </p:sp>
    </p:spTree>
    <p:extLst>
      <p:ext uri="{BB962C8B-B14F-4D97-AF65-F5344CB8AC3E}">
        <p14:creationId xmlns:p14="http://schemas.microsoft.com/office/powerpoint/2010/main" val="335663312"/>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帳戶優惠</a:t>
            </a:r>
            <a:endParaRPr kumimoji="1" lang="zh-TW" altLang="en-US" sz="1800" b="1" dirty="0">
              <a:solidFill>
                <a:srgbClr val="FF0000"/>
              </a:solidFill>
            </a:endParaRPr>
          </a:p>
        </p:txBody>
      </p:sp>
      <p:pic>
        <p:nvPicPr>
          <p:cNvPr id="5" name="圖片 4">
            <a:extLst>
              <a:ext uri="{FF2B5EF4-FFF2-40B4-BE49-F238E27FC236}">
                <a16:creationId xmlns:a16="http://schemas.microsoft.com/office/drawing/2014/main" id="{92530978-EDA5-F1CF-240D-67EA0D717145}"/>
              </a:ext>
            </a:extLst>
          </p:cNvPr>
          <p:cNvPicPr>
            <a:picLocks noChangeAspect="1"/>
          </p:cNvPicPr>
          <p:nvPr/>
        </p:nvPicPr>
        <p:blipFill>
          <a:blip r:embed="rId3"/>
          <a:stretch>
            <a:fillRect/>
          </a:stretch>
        </p:blipFill>
        <p:spPr>
          <a:xfrm>
            <a:off x="0" y="865732"/>
            <a:ext cx="11949113" cy="4863011"/>
          </a:xfrm>
          <a:prstGeom prst="rect">
            <a:avLst/>
          </a:prstGeom>
        </p:spPr>
      </p:pic>
      <p:sp>
        <p:nvSpPr>
          <p:cNvPr id="3" name="文字方塊 2">
            <a:extLst>
              <a:ext uri="{FF2B5EF4-FFF2-40B4-BE49-F238E27FC236}">
                <a16:creationId xmlns:a16="http://schemas.microsoft.com/office/drawing/2014/main" id="{D697498E-B365-7F6F-8A55-DE253208CB48}"/>
              </a:ext>
            </a:extLst>
          </p:cNvPr>
          <p:cNvSpPr txBox="1"/>
          <p:nvPr/>
        </p:nvSpPr>
        <p:spPr>
          <a:xfrm>
            <a:off x="5033319" y="4807548"/>
            <a:ext cx="2685536"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t>Popup</a:t>
            </a:r>
            <a:r>
              <a:rPr lang="zh-TW" altLang="en-US" dirty="0"/>
              <a:t> </a:t>
            </a:r>
            <a:r>
              <a:rPr kumimoji="1" lang="zh-CN" altLang="en-US" dirty="0"/>
              <a:t>優惠</a:t>
            </a:r>
            <a:r>
              <a:rPr kumimoji="1" lang="zh-TW" altLang="en-US" dirty="0"/>
              <a:t>方案注意事項 </a:t>
            </a:r>
            <a:r>
              <a:rPr kumimoji="1" lang="en-US" altLang="zh-TW" dirty="0"/>
              <a:t>(</a:t>
            </a:r>
            <a:r>
              <a:rPr kumimoji="1" lang="zh-TW" altLang="en-US" dirty="0"/>
              <a:t>詳參下頁</a:t>
            </a:r>
            <a:r>
              <a:rPr kumimoji="1" lang="en-US" altLang="zh-TW" dirty="0"/>
              <a:t>)</a:t>
            </a:r>
            <a:endParaRPr lang="zh-TW" altLang="en-US" dirty="0"/>
          </a:p>
        </p:txBody>
      </p:sp>
    </p:spTree>
    <p:extLst>
      <p:ext uri="{BB962C8B-B14F-4D97-AF65-F5344CB8AC3E}">
        <p14:creationId xmlns:p14="http://schemas.microsoft.com/office/powerpoint/2010/main" val="3958542818"/>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p:txBody>
          <a:bodyPr/>
          <a:lstStyle/>
          <a:p>
            <a:r>
              <a:rPr kumimoji="1" lang="zh-CN" altLang="en-US" b="1" dirty="0"/>
              <a:t>優惠</a:t>
            </a:r>
            <a:r>
              <a:rPr kumimoji="1" lang="zh-TW" altLang="en-US" b="1" dirty="0"/>
              <a:t>方案注意事項</a:t>
            </a:r>
            <a:endParaRPr kumimoji="1" lang="zh-TW" altLang="en-US" sz="1800" b="1" dirty="0">
              <a:solidFill>
                <a:srgbClr val="FF0000"/>
              </a:solidFill>
            </a:endParaRPr>
          </a:p>
        </p:txBody>
      </p:sp>
      <p:pic>
        <p:nvPicPr>
          <p:cNvPr id="4" name="圖片 3">
            <a:extLst>
              <a:ext uri="{FF2B5EF4-FFF2-40B4-BE49-F238E27FC236}">
                <a16:creationId xmlns:a16="http://schemas.microsoft.com/office/drawing/2014/main" id="{24636307-8145-31C7-2F01-74A4B4B48CFB}"/>
              </a:ext>
            </a:extLst>
          </p:cNvPr>
          <p:cNvPicPr>
            <a:picLocks noChangeAspect="1"/>
          </p:cNvPicPr>
          <p:nvPr/>
        </p:nvPicPr>
        <p:blipFill>
          <a:blip r:embed="rId3"/>
          <a:stretch>
            <a:fillRect/>
          </a:stretch>
        </p:blipFill>
        <p:spPr>
          <a:xfrm>
            <a:off x="2405422" y="926886"/>
            <a:ext cx="6461741" cy="5268034"/>
          </a:xfrm>
          <a:prstGeom prst="rect">
            <a:avLst/>
          </a:prstGeom>
        </p:spPr>
      </p:pic>
      <p:sp>
        <p:nvSpPr>
          <p:cNvPr id="6" name="文字方塊 5">
            <a:extLst>
              <a:ext uri="{FF2B5EF4-FFF2-40B4-BE49-F238E27FC236}">
                <a16:creationId xmlns:a16="http://schemas.microsoft.com/office/drawing/2014/main" id="{ADB2266F-E4D2-698B-FFA9-34A5FEF04960}"/>
              </a:ext>
            </a:extLst>
          </p:cNvPr>
          <p:cNvSpPr txBox="1"/>
          <p:nvPr/>
        </p:nvSpPr>
        <p:spPr>
          <a:xfrm>
            <a:off x="6273982" y="5402729"/>
            <a:ext cx="5186362"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4"/>
              </a:rPr>
              <a:t>https://bank.sinopac.com/sinopacBT/personal/credit-card/news.html</a:t>
            </a:r>
            <a:endParaRPr lang="zh-TW" altLang="en-US" dirty="0"/>
          </a:p>
        </p:txBody>
      </p:sp>
      <p:cxnSp>
        <p:nvCxnSpPr>
          <p:cNvPr id="24" name="接點: 肘形 23">
            <a:extLst>
              <a:ext uri="{FF2B5EF4-FFF2-40B4-BE49-F238E27FC236}">
                <a16:creationId xmlns:a16="http://schemas.microsoft.com/office/drawing/2014/main" id="{75ABB0B9-7034-0D1F-1224-BB4198C79725}"/>
              </a:ext>
            </a:extLst>
          </p:cNvPr>
          <p:cNvCxnSpPr>
            <a:cxnSpLocks/>
          </p:cNvCxnSpPr>
          <p:nvPr/>
        </p:nvCxnSpPr>
        <p:spPr bwMode="auto">
          <a:xfrm rot="5400000" flipH="1" flipV="1">
            <a:off x="7064338" y="3194882"/>
            <a:ext cx="17888" cy="4433582"/>
          </a:xfrm>
          <a:prstGeom prst="bentConnector3">
            <a:avLst>
              <a:gd name="adj1" fmla="val 1377952"/>
            </a:avLst>
          </a:prstGeom>
          <a:solidFill>
            <a:schemeClr val="accent1"/>
          </a:solidFill>
          <a:ln w="19050" cap="flat" cmpd="sng" algn="ctr">
            <a:solidFill>
              <a:srgbClr val="FF0000"/>
            </a:solidFill>
            <a:prstDash val="dash"/>
            <a:round/>
            <a:headEnd type="none" w="med" len="med"/>
            <a:tailEnd type="triangle"/>
          </a:ln>
          <a:effectLst/>
        </p:spPr>
      </p:cxnSp>
    </p:spTree>
    <p:extLst>
      <p:ext uri="{BB962C8B-B14F-4D97-AF65-F5344CB8AC3E}">
        <p14:creationId xmlns:p14="http://schemas.microsoft.com/office/powerpoint/2010/main" val="265083177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a:xfrm>
            <a:off x="358605" y="147918"/>
            <a:ext cx="11116727" cy="622580"/>
          </a:xfrm>
        </p:spPr>
        <p:txBody>
          <a:bodyPr/>
          <a:lstStyle/>
          <a:p>
            <a:r>
              <a:rPr kumimoji="1" lang="en-US" altLang="zh-TW" b="1" dirty="0"/>
              <a:t>FAQ</a:t>
            </a:r>
            <a:r>
              <a:rPr kumimoji="1" lang="en-US" altLang="zh-TW" sz="1800" b="1" dirty="0">
                <a:solidFill>
                  <a:prstClr val="black">
                    <a:lumMod val="50000"/>
                    <a:lumOff val="50000"/>
                  </a:prstClr>
                </a:solidFill>
              </a:rPr>
              <a:t>(</a:t>
            </a:r>
            <a:r>
              <a:rPr kumimoji="1" lang="zh-TW" altLang="en-US" sz="1800" b="1" dirty="0">
                <a:solidFill>
                  <a:prstClr val="black">
                    <a:lumMod val="50000"/>
                    <a:lumOff val="50000"/>
                  </a:prstClr>
                </a:solidFill>
              </a:rPr>
              <a:t>共</a:t>
            </a:r>
            <a:r>
              <a:rPr kumimoji="1" lang="en-US" altLang="zh-TW" sz="1800" b="1" dirty="0">
                <a:solidFill>
                  <a:prstClr val="black">
                    <a:lumMod val="50000"/>
                    <a:lumOff val="50000"/>
                  </a:prstClr>
                </a:solidFill>
              </a:rPr>
              <a:t>8</a:t>
            </a:r>
            <a:r>
              <a:rPr kumimoji="1" lang="zh-TW" altLang="en-US" sz="1800" b="1" dirty="0">
                <a:solidFill>
                  <a:prstClr val="black">
                    <a:lumMod val="50000"/>
                    <a:lumOff val="50000"/>
                  </a:prstClr>
                </a:solidFill>
              </a:rPr>
              <a:t>題</a:t>
            </a:r>
            <a:r>
              <a:rPr kumimoji="1" lang="en-US" altLang="zh-TW" sz="1800" b="1" dirty="0">
                <a:solidFill>
                  <a:prstClr val="black">
                    <a:lumMod val="50000"/>
                    <a:lumOff val="50000"/>
                  </a:prstClr>
                </a:solidFill>
              </a:rPr>
              <a:t>)</a:t>
            </a:r>
            <a:endParaRPr kumimoji="1" lang="zh-TW" altLang="en-US" sz="1800" b="1" dirty="0">
              <a:solidFill>
                <a:prstClr val="black">
                  <a:lumMod val="50000"/>
                  <a:lumOff val="50000"/>
                </a:prstClr>
              </a:solidFill>
            </a:endParaRPr>
          </a:p>
        </p:txBody>
      </p:sp>
      <p:pic>
        <p:nvPicPr>
          <p:cNvPr id="8" name="圖片 7">
            <a:extLst>
              <a:ext uri="{FF2B5EF4-FFF2-40B4-BE49-F238E27FC236}">
                <a16:creationId xmlns:a16="http://schemas.microsoft.com/office/drawing/2014/main" id="{C56B174B-D9FF-BD34-AB20-467AB935070C}"/>
              </a:ext>
            </a:extLst>
          </p:cNvPr>
          <p:cNvPicPr>
            <a:picLocks noChangeAspect="1"/>
          </p:cNvPicPr>
          <p:nvPr/>
        </p:nvPicPr>
        <p:blipFill rotWithShape="1">
          <a:blip r:embed="rId2"/>
          <a:srcRect t="4346"/>
          <a:stretch/>
        </p:blipFill>
        <p:spPr>
          <a:xfrm>
            <a:off x="2076237" y="833998"/>
            <a:ext cx="7436064" cy="5504401"/>
          </a:xfrm>
          <a:prstGeom prst="rect">
            <a:avLst/>
          </a:prstGeom>
        </p:spPr>
      </p:pic>
      <p:sp>
        <p:nvSpPr>
          <p:cNvPr id="3" name="文字方塊 2">
            <a:extLst>
              <a:ext uri="{FF2B5EF4-FFF2-40B4-BE49-F238E27FC236}">
                <a16:creationId xmlns:a16="http://schemas.microsoft.com/office/drawing/2014/main" id="{ABCF5BF5-DDD7-EF1F-165B-62912CA46AF9}"/>
              </a:ext>
            </a:extLst>
          </p:cNvPr>
          <p:cNvSpPr txBox="1"/>
          <p:nvPr/>
        </p:nvSpPr>
        <p:spPr>
          <a:xfrm>
            <a:off x="848497" y="1339418"/>
            <a:ext cx="2685536"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kumimoji="1" lang="en-US" altLang="zh-TW" dirty="0"/>
              <a:t>FAQ</a:t>
            </a:r>
            <a:r>
              <a:rPr kumimoji="1" lang="zh-TW" altLang="en-US" dirty="0"/>
              <a:t>收合展開文字 </a:t>
            </a:r>
            <a:r>
              <a:rPr kumimoji="1" lang="en-US" altLang="zh-TW" dirty="0"/>
              <a:t>(</a:t>
            </a:r>
            <a:r>
              <a:rPr kumimoji="1" lang="zh-TW" altLang="en-US" dirty="0"/>
              <a:t>詳參</a:t>
            </a:r>
            <a:r>
              <a:rPr kumimoji="1" lang="en-US" altLang="zh-TW" dirty="0"/>
              <a:t>p.18-20)</a:t>
            </a:r>
            <a:endParaRPr lang="zh-TW" altLang="en-US" dirty="0"/>
          </a:p>
        </p:txBody>
      </p:sp>
    </p:spTree>
    <p:extLst>
      <p:ext uri="{BB962C8B-B14F-4D97-AF65-F5344CB8AC3E}">
        <p14:creationId xmlns:p14="http://schemas.microsoft.com/office/powerpoint/2010/main" val="1269429525"/>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en-US" altLang="zh-TW" sz="32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j-cs"/>
              </a:rPr>
              <a:t>FAQ</a:t>
            </a:r>
            <a:r>
              <a:rPr kumimoji="1" lang="en-US" altLang="zh-TW" sz="1800" b="1" dirty="0">
                <a:solidFill>
                  <a:schemeClr val="tx1">
                    <a:lumMod val="50000"/>
                    <a:lumOff val="50000"/>
                  </a:schemeClr>
                </a:solidFill>
              </a:rPr>
              <a:t>(</a:t>
            </a:r>
            <a:r>
              <a:rPr kumimoji="1" lang="zh-TW" altLang="en-US" sz="1800" b="1" dirty="0">
                <a:solidFill>
                  <a:schemeClr val="tx1">
                    <a:lumMod val="50000"/>
                    <a:lumOff val="50000"/>
                  </a:schemeClr>
                </a:solidFill>
              </a:rPr>
              <a:t>展開</a:t>
            </a:r>
            <a:r>
              <a:rPr kumimoji="1" lang="en-US" altLang="zh-TW" sz="1800" b="1" dirty="0">
                <a:solidFill>
                  <a:schemeClr val="tx1">
                    <a:lumMod val="50000"/>
                    <a:lumOff val="50000"/>
                  </a:schemeClr>
                </a:solidFill>
              </a:rPr>
              <a:t>1/3)</a:t>
            </a:r>
            <a:endParaRPr kumimoji="1" lang="zh-TW" altLang="en-US" sz="1800" b="1" dirty="0">
              <a:solidFill>
                <a:schemeClr val="tx1">
                  <a:lumMod val="50000"/>
                  <a:lumOff val="50000"/>
                </a:schemeClr>
              </a:solidFill>
            </a:endParaRPr>
          </a:p>
        </p:txBody>
      </p:sp>
      <p:graphicFrame>
        <p:nvGraphicFramePr>
          <p:cNvPr id="4" name="表格 3">
            <a:extLst>
              <a:ext uri="{FF2B5EF4-FFF2-40B4-BE49-F238E27FC236}">
                <a16:creationId xmlns:a16="http://schemas.microsoft.com/office/drawing/2014/main" id="{A7594078-E8E6-411A-A83E-7AF0219DA87A}"/>
              </a:ext>
            </a:extLst>
          </p:cNvPr>
          <p:cNvGraphicFramePr>
            <a:graphicFrameLocks noGrp="1"/>
          </p:cNvGraphicFramePr>
          <p:nvPr/>
        </p:nvGraphicFramePr>
        <p:xfrm>
          <a:off x="504120" y="935923"/>
          <a:ext cx="10971212" cy="4841659"/>
        </p:xfrm>
        <a:graphic>
          <a:graphicData uri="http://schemas.openxmlformats.org/drawingml/2006/table">
            <a:tbl>
              <a:tblPr/>
              <a:tblGrid>
                <a:gridCol w="508973">
                  <a:extLst>
                    <a:ext uri="{9D8B030D-6E8A-4147-A177-3AD203B41FA5}">
                      <a16:colId xmlns:a16="http://schemas.microsoft.com/office/drawing/2014/main" val="2989757198"/>
                    </a:ext>
                  </a:extLst>
                </a:gridCol>
                <a:gridCol w="10462239">
                  <a:extLst>
                    <a:ext uri="{9D8B030D-6E8A-4147-A177-3AD203B41FA5}">
                      <a16:colId xmlns:a16="http://schemas.microsoft.com/office/drawing/2014/main" val="3090173034"/>
                    </a:ext>
                  </a:extLst>
                </a:gridCol>
              </a:tblGrid>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Q1</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什麼是「退休信託帳戶可攜方案」</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6190065"/>
                  </a:ext>
                </a:extLst>
              </a:tr>
              <a:tr h="888470">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A1</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退休信託帳戶可攜方案係指讓客戶透過特定金錢信託方式，委託永豐銀行</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受託人</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依指定之投資金額及扣款日期，以每月定時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定額的投資方式購買永豐銀行選定之退休可攜基金，並提供客戶得申請撥轉基金受益憑證單位數至新受託機構。</a:t>
                      </a:r>
                      <a:endPar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退休信託帳戶可攜方案鼓勵客戶經由</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hlinkClick r:id="rId2"/>
                        </a:rPr>
                        <a:t>基金定時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hlinkClick r:id="rId2"/>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hlinkClick r:id="rId2"/>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hlinkClick r:id="rId2"/>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hlinkClick r:id="rId2"/>
                        </a:rPr>
                        <a:t>定額投資</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，開立信託帳戶，簽署退休帳戶可攜約定條款，以長期累積退休資金。</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766522"/>
                  </a:ext>
                </a:extLst>
              </a:tr>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Q2</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如何申請將定時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定額基金攜入至永豐銀行</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endParaRPr lang="zh-TW" altLang="en-US"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1540994"/>
                  </a:ext>
                </a:extLst>
              </a:tr>
              <a:tr h="1001092">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A2</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步驟一：確認於永豐銀行有開立信託帳戶，並簽署「</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hlinkClick r:id="rId3"/>
                        </a:rPr>
                        <a:t>信託帳戶退休可攜契約條款</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」後，申請取得「退休信託帳戶開立證明書」。</a:t>
                      </a:r>
                    </a:p>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步驟二：攜帶「退休信託帳戶開立證明書」至其他金融受託機構申請將基金庫存攜入至永豐銀行。</a:t>
                      </a:r>
                    </a:p>
                    <a:p>
                      <a:pPr lvl="0"/>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482865"/>
                  </a:ext>
                </a:extLst>
              </a:tr>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Q3</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申請定時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定額基金攜入</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攜出是否有費用</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endParaRPr lang="zh-TW" altLang="en-US"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9471274"/>
                  </a:ext>
                </a:extLst>
              </a:tr>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A3</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(1)</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申請攜入：無費用。</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(2)</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申請攜出：依客戶定時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定額基金持有期間收取信託管理費。</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0034037"/>
                  </a:ext>
                </a:extLst>
              </a:tr>
              <a:tr h="387923">
                <a:tc>
                  <a:txBody>
                    <a:bodyPr/>
                    <a:lstStyle/>
                    <a:p>
                      <a:pPr algn="ctr" fontAlgn="ctr"/>
                      <a:r>
                        <a:rPr lang="en-US"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Q4</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攜入永豐銀行的定時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定額基金可以繼續扣款投資嗎</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038122"/>
                  </a:ext>
                </a:extLst>
              </a:tr>
              <a:tr h="340581">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A4</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可以！永豐銀行貼心保留客戶繼續投資的彈性，透過臨櫃或網路銀行都可申請將攜入之定時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定額基金「恢復定時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定額扣款」。</a:t>
                      </a:r>
                    </a:p>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註：</a:t>
                      </a:r>
                    </a:p>
                    <a:p>
                      <a:pPr lvl="0"/>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客戶申請攜入永豐銀行之定時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定額基金，系統預設為「暫停扣款」狀態，扣款金額預設為該基金「最低申購金額」，扣款日期預設為「每月</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6</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號」。如欲「恢復定時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定額扣款」應於臨櫃或</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hlinkClick r:id="rId4"/>
                        </a:rPr>
                        <a:t>網路銀行申請</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p>
                    <a:p>
                      <a:pPr lvl="0"/>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執行「恢復扣款」、「增加約定扣款日期」或「增加約定扣款金額」作業，如未符合永豐銀行所訂客戶風險承受等級與商品風險等級之適配方式者，不得執行「恢復扣款」、「增加約定扣款日期」或「增加約定扣款金額」。</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14663958"/>
                  </a:ext>
                </a:extLst>
              </a:tr>
            </a:tbl>
          </a:graphicData>
        </a:graphic>
      </p:graphicFrame>
      <p:sp>
        <p:nvSpPr>
          <p:cNvPr id="3" name="文字方塊 2">
            <a:extLst>
              <a:ext uri="{FF2B5EF4-FFF2-40B4-BE49-F238E27FC236}">
                <a16:creationId xmlns:a16="http://schemas.microsoft.com/office/drawing/2014/main" id="{822C8539-CD15-0260-E074-7AEDA5431F22}"/>
              </a:ext>
            </a:extLst>
          </p:cNvPr>
          <p:cNvSpPr txBox="1"/>
          <p:nvPr/>
        </p:nvSpPr>
        <p:spPr>
          <a:xfrm>
            <a:off x="4142789" y="3227570"/>
            <a:ext cx="2785926"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3"/>
              </a:rPr>
              <a:t>https://mma.sinopac.com/Fund/FundQueries/PortableStatus_First.aspx</a:t>
            </a:r>
            <a:endParaRPr lang="zh-TW" altLang="en-US" dirty="0"/>
          </a:p>
        </p:txBody>
      </p:sp>
      <p:cxnSp>
        <p:nvCxnSpPr>
          <p:cNvPr id="9" name="接點: 肘形 8">
            <a:extLst>
              <a:ext uri="{FF2B5EF4-FFF2-40B4-BE49-F238E27FC236}">
                <a16:creationId xmlns:a16="http://schemas.microsoft.com/office/drawing/2014/main" id="{3DC3DB34-B349-C260-29D3-0AACE2CC812D}"/>
              </a:ext>
            </a:extLst>
          </p:cNvPr>
          <p:cNvCxnSpPr>
            <a:cxnSpLocks/>
            <a:endCxn id="3" idx="1"/>
          </p:cNvCxnSpPr>
          <p:nvPr/>
        </p:nvCxnSpPr>
        <p:spPr bwMode="auto">
          <a:xfrm rot="10800000" flipV="1">
            <a:off x="4142789" y="2871987"/>
            <a:ext cx="12700" cy="586415"/>
          </a:xfrm>
          <a:prstGeom prst="bentConnector3">
            <a:avLst>
              <a:gd name="adj1" fmla="val 1800000"/>
            </a:avLst>
          </a:prstGeom>
          <a:solidFill>
            <a:schemeClr val="accent1"/>
          </a:solidFill>
          <a:ln w="19050" cap="flat" cmpd="sng" algn="ctr">
            <a:solidFill>
              <a:srgbClr val="FF0000"/>
            </a:solidFill>
            <a:prstDash val="dash"/>
            <a:round/>
            <a:headEnd type="none" w="med" len="med"/>
            <a:tailEnd type="triangle"/>
          </a:ln>
          <a:effectLst/>
        </p:spPr>
      </p:cxnSp>
      <p:sp>
        <p:nvSpPr>
          <p:cNvPr id="11" name="文字方塊 10">
            <a:extLst>
              <a:ext uri="{FF2B5EF4-FFF2-40B4-BE49-F238E27FC236}">
                <a16:creationId xmlns:a16="http://schemas.microsoft.com/office/drawing/2014/main" id="{7C11B7A8-9BD1-D021-5D1B-D79B1AC05494}"/>
              </a:ext>
            </a:extLst>
          </p:cNvPr>
          <p:cNvSpPr txBox="1"/>
          <p:nvPr/>
        </p:nvSpPr>
        <p:spPr>
          <a:xfrm>
            <a:off x="3281489" y="1022757"/>
            <a:ext cx="5245555"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hlinkClick r:id="rId2"/>
              </a:rPr>
              <a:t>https://mma.sinopac.com/Fund/FundTransactions/cAuto_FirstN.aspx</a:t>
            </a:r>
            <a:endParaRPr lang="zh-TW" altLang="en-US" dirty="0"/>
          </a:p>
        </p:txBody>
      </p:sp>
      <p:cxnSp>
        <p:nvCxnSpPr>
          <p:cNvPr id="21" name="接點: 肘形 20">
            <a:extLst>
              <a:ext uri="{FF2B5EF4-FFF2-40B4-BE49-F238E27FC236}">
                <a16:creationId xmlns:a16="http://schemas.microsoft.com/office/drawing/2014/main" id="{09AFD581-1C87-592D-EB9A-0DA709F79EAB}"/>
              </a:ext>
            </a:extLst>
          </p:cNvPr>
          <p:cNvCxnSpPr>
            <a:cxnSpLocks/>
          </p:cNvCxnSpPr>
          <p:nvPr/>
        </p:nvCxnSpPr>
        <p:spPr bwMode="auto">
          <a:xfrm rot="10800000">
            <a:off x="3281489" y="1172273"/>
            <a:ext cx="12700" cy="757842"/>
          </a:xfrm>
          <a:prstGeom prst="bentConnector4">
            <a:avLst>
              <a:gd name="adj1" fmla="val 1669882"/>
              <a:gd name="adj2" fmla="val 102750"/>
            </a:avLst>
          </a:prstGeom>
          <a:solidFill>
            <a:schemeClr val="accent1"/>
          </a:solidFill>
          <a:ln w="19050" cap="flat" cmpd="sng" algn="ctr">
            <a:solidFill>
              <a:srgbClr val="FF0000"/>
            </a:solidFill>
            <a:prstDash val="dash"/>
            <a:round/>
            <a:headEnd type="none" w="med" len="med"/>
            <a:tailEnd type="triangle"/>
          </a:ln>
          <a:effectLst/>
        </p:spPr>
      </p:cxnSp>
      <p:sp>
        <p:nvSpPr>
          <p:cNvPr id="25" name="文字方塊 24">
            <a:extLst>
              <a:ext uri="{FF2B5EF4-FFF2-40B4-BE49-F238E27FC236}">
                <a16:creationId xmlns:a16="http://schemas.microsoft.com/office/drawing/2014/main" id="{5A3CC611-B035-4592-5392-45A2538519CB}"/>
              </a:ext>
            </a:extLst>
          </p:cNvPr>
          <p:cNvSpPr txBox="1"/>
          <p:nvPr/>
        </p:nvSpPr>
        <p:spPr>
          <a:xfrm>
            <a:off x="2380090" y="5820618"/>
            <a:ext cx="5976650" cy="461665"/>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5" tooltip="https://mma.sinopac.com/fund/fundtransactions/modifyfund/cmodifyfund_first.aspx"/>
              </a:rPr>
              <a:t>https://mma.sinopac.com/Fund/FundTransactions/ModifyFund/cModifyFund_First.aspx</a:t>
            </a:r>
            <a:endParaRPr lang="en-US" altLang="zh-TW" dirty="0"/>
          </a:p>
        </p:txBody>
      </p:sp>
      <p:cxnSp>
        <p:nvCxnSpPr>
          <p:cNvPr id="26" name="接點: 肘形 25">
            <a:extLst>
              <a:ext uri="{FF2B5EF4-FFF2-40B4-BE49-F238E27FC236}">
                <a16:creationId xmlns:a16="http://schemas.microsoft.com/office/drawing/2014/main" id="{F91BC0DE-5851-3651-D13E-72CCB45BB9F8}"/>
              </a:ext>
            </a:extLst>
          </p:cNvPr>
          <p:cNvCxnSpPr>
            <a:cxnSpLocks/>
          </p:cNvCxnSpPr>
          <p:nvPr/>
        </p:nvCxnSpPr>
        <p:spPr bwMode="auto">
          <a:xfrm rot="10800000" flipV="1">
            <a:off x="2378407" y="5378626"/>
            <a:ext cx="12700" cy="586415"/>
          </a:xfrm>
          <a:prstGeom prst="bentConnector3">
            <a:avLst>
              <a:gd name="adj1" fmla="val 1800000"/>
            </a:avLst>
          </a:prstGeom>
          <a:solidFill>
            <a:schemeClr val="accent1"/>
          </a:solidFill>
          <a:ln w="19050" cap="flat" cmpd="sng" algn="ctr">
            <a:solidFill>
              <a:srgbClr val="FF0000"/>
            </a:solidFill>
            <a:prstDash val="dash"/>
            <a:round/>
            <a:headEnd type="none" w="med" len="med"/>
            <a:tailEnd type="triangle"/>
          </a:ln>
          <a:effectLst/>
        </p:spPr>
      </p:cxnSp>
    </p:spTree>
    <p:extLst>
      <p:ext uri="{BB962C8B-B14F-4D97-AF65-F5344CB8AC3E}">
        <p14:creationId xmlns:p14="http://schemas.microsoft.com/office/powerpoint/2010/main" val="443082918"/>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en-US" altLang="zh-TW" sz="32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j-cs"/>
              </a:rPr>
              <a:t>FAQ</a:t>
            </a:r>
            <a:r>
              <a:rPr kumimoji="1" lang="en-US" altLang="zh-TW" sz="1800" b="1" dirty="0">
                <a:solidFill>
                  <a:schemeClr val="tx1">
                    <a:lumMod val="50000"/>
                    <a:lumOff val="50000"/>
                  </a:schemeClr>
                </a:solidFill>
              </a:rPr>
              <a:t>(</a:t>
            </a:r>
            <a:r>
              <a:rPr kumimoji="1" lang="zh-TW" altLang="en-US" sz="1800" b="1" dirty="0">
                <a:solidFill>
                  <a:schemeClr val="tx1">
                    <a:lumMod val="50000"/>
                    <a:lumOff val="50000"/>
                  </a:schemeClr>
                </a:solidFill>
              </a:rPr>
              <a:t>展開</a:t>
            </a:r>
            <a:r>
              <a:rPr kumimoji="1" lang="en-US" altLang="zh-TW" sz="1800" b="1" dirty="0">
                <a:solidFill>
                  <a:schemeClr val="tx1">
                    <a:lumMod val="50000"/>
                    <a:lumOff val="50000"/>
                  </a:schemeClr>
                </a:solidFill>
              </a:rPr>
              <a:t>2/3)</a:t>
            </a:r>
            <a:endParaRPr kumimoji="1" lang="zh-TW" altLang="en-US" sz="1800" b="1" dirty="0">
              <a:solidFill>
                <a:schemeClr val="tx1">
                  <a:lumMod val="50000"/>
                  <a:lumOff val="50000"/>
                </a:schemeClr>
              </a:solidFill>
            </a:endParaRPr>
          </a:p>
        </p:txBody>
      </p:sp>
      <p:graphicFrame>
        <p:nvGraphicFramePr>
          <p:cNvPr id="4" name="表格 3">
            <a:extLst>
              <a:ext uri="{FF2B5EF4-FFF2-40B4-BE49-F238E27FC236}">
                <a16:creationId xmlns:a16="http://schemas.microsoft.com/office/drawing/2014/main" id="{A7594078-E8E6-411A-A83E-7AF0219DA87A}"/>
              </a:ext>
            </a:extLst>
          </p:cNvPr>
          <p:cNvGraphicFramePr>
            <a:graphicFrameLocks noGrp="1"/>
          </p:cNvGraphicFramePr>
          <p:nvPr/>
        </p:nvGraphicFramePr>
        <p:xfrm>
          <a:off x="504120" y="935923"/>
          <a:ext cx="10971212" cy="5359038"/>
        </p:xfrm>
        <a:graphic>
          <a:graphicData uri="http://schemas.openxmlformats.org/drawingml/2006/table">
            <a:tbl>
              <a:tblPr/>
              <a:tblGrid>
                <a:gridCol w="508973">
                  <a:extLst>
                    <a:ext uri="{9D8B030D-6E8A-4147-A177-3AD203B41FA5}">
                      <a16:colId xmlns:a16="http://schemas.microsoft.com/office/drawing/2014/main" val="2989757198"/>
                    </a:ext>
                  </a:extLst>
                </a:gridCol>
                <a:gridCol w="10462239">
                  <a:extLst>
                    <a:ext uri="{9D8B030D-6E8A-4147-A177-3AD203B41FA5}">
                      <a16:colId xmlns:a16="http://schemas.microsoft.com/office/drawing/2014/main" val="3090173034"/>
                    </a:ext>
                  </a:extLst>
                </a:gridCol>
              </a:tblGrid>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Q</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5</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攜入永豐銀行的定時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定額基金如恢復扣款，有無手續費優惠方案</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6190065"/>
                  </a:ext>
                </a:extLst>
              </a:tr>
              <a:tr h="888470">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5</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執行恢復定時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定額扣款且符合永豐銀行推出之優惠方案資格者</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請參帳戶優惠</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於設定扣款金額新臺幣</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10,000</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元以下，給予</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0</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元手續費優惠；設定扣款金額超過新臺幣</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10,000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元，全額享牌告申購手續費</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38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折。</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766522"/>
                  </a:ext>
                </a:extLst>
              </a:tr>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Q</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6</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申購退休可攜基金費用收取方式與非退休可攜基金收費標準是否不同？申購退休可攜基金需要支付什麼費用？</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  </a:t>
                      </a:r>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1540994"/>
                  </a:ext>
                </a:extLst>
              </a:tr>
              <a:tr h="1001092">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6</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退休可攜基金與非退休可攜基金之費用收取方式並無不同。</a:t>
                      </a:r>
                    </a:p>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申購退休可攜基金主要收取申購手續費及申購通路服務費，分述如下：</a:t>
                      </a:r>
                    </a:p>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一、 申購手續費：</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(1)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報酬標準：費率不超過</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3.0%</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(2)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計算方法：以信託本金乘上費率計算之。</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(3)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支付時間及方法：於申購時由客戶一次給付予永豐銀行。</a:t>
                      </a:r>
                    </a:p>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二、信託管理費：</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(1)</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贖回：</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報酬標準：年費率</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0.2%</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B.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計算方法：就每筆信託本金，分別依其實際持有期間，乘上年費率計算之。</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C.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支付時間及方法：應由客戶給付永豐銀行，並於客戶要求贖回時，授權永豐銀行逕自返還信託本益中扣收。但依前述計算方式所取得之費用未達永豐銀行規定最低收費標準時，則以最低收費標準扣收。</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D.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最低收費標準：新臺幣</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100</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元。</a:t>
                      </a:r>
                      <a:endPar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(2)</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撥轉「專案基金」之受益憑證單位數至新受託機構</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攜出</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報酬標準：年費率</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0.2%</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B.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計算方法：就每筆信託本金，分別依其實際持有期間</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計算至申請日次月</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20</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號，若</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20</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號為非營業日則計算至前一營業日</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，乘上年費率計算之。</a:t>
                      </a:r>
                    </a:p>
                    <a:p>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C.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支付時間及方法：由客戶給付予永豐銀行，並於撥轉交易完成後，由永豐銀行自約定之新臺幣帳戶辦理扣收</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額外一次收取</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endPar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p>
                      <a:pPr marL="0" lvl="0" algn="l" defTabSz="914400" rtl="0" eaLnBrk="1" latinLnBrk="0" hangingPunct="1"/>
                      <a:r>
                        <a:rPr lang="zh-TW" altLang="en-US"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三、</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轉換手續費：</a:t>
                      </a:r>
                    </a:p>
                    <a:p>
                      <a:pPr marL="0" algn="l" defTabSz="914400" rtl="0" eaLnBrk="1" latinLnBrk="0" hangingPunct="1"/>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(1)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報酬標準：客戶每次申請轉換投資至同一基金公司之其他基金時，依該基金公司規定扣收轉換手續費。惟永豐銀行另對國內基金每筆計收新臺幣</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50</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元。</a:t>
                      </a:r>
                    </a:p>
                    <a:p>
                      <a:pPr marL="0" algn="l" defTabSz="914400" rtl="0" eaLnBrk="1" latinLnBrk="0" hangingPunct="1"/>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(2)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計算方法：於每次基金轉換時逐次收取。</a:t>
                      </a:r>
                    </a:p>
                    <a:p>
                      <a:pPr marL="0" algn="l" defTabSz="914400" rtl="0" eaLnBrk="1" latinLnBrk="0" hangingPunct="1"/>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(3) </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支付時間及方法：應支付予基金公司者，另依基金公司規定另由永豐銀行代為扣收或由該基金公司自轉換總額中扣收；應支付予永豐銀行者，則由客戶給付予永豐銀行，並於辦理轉換時由永豐銀行額外一次收取。轉換手續費一律自新臺幣帳戶扣收。</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482865"/>
                  </a:ext>
                </a:extLst>
              </a:tr>
            </a:tbl>
          </a:graphicData>
        </a:graphic>
      </p:graphicFrame>
    </p:spTree>
    <p:extLst>
      <p:ext uri="{BB962C8B-B14F-4D97-AF65-F5344CB8AC3E}">
        <p14:creationId xmlns:p14="http://schemas.microsoft.com/office/powerpoint/2010/main" val="192694108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6181E36-5E32-44A4-BE04-6F7D17CFA3DB}"/>
              </a:ext>
            </a:extLst>
          </p:cNvPr>
          <p:cNvSpPr>
            <a:spLocks noGrp="1"/>
          </p:cNvSpPr>
          <p:nvPr>
            <p:ph type="title"/>
          </p:nvPr>
        </p:nvSpPr>
        <p:spPr/>
        <p:txBody>
          <a:bodyPr/>
          <a:lstStyle/>
          <a:p>
            <a:r>
              <a:rPr kumimoji="1" lang="en-US" altLang="zh-TW" sz="3200" b="1" i="0" u="none" strike="noStrike" kern="0" cap="none" spc="0" normalizeH="0" baseline="0" noProof="0" dirty="0">
                <a:ln>
                  <a:noFill/>
                </a:ln>
                <a:solidFill>
                  <a:prstClr val="black"/>
                </a:solidFill>
                <a:effectLst/>
                <a:uLnTx/>
                <a:uFillTx/>
                <a:latin typeface="微軟正黑體" panose="020B0604030504040204" pitchFamily="34" charset="-120"/>
                <a:ea typeface="微軟正黑體" panose="020B0604030504040204" pitchFamily="34" charset="-120"/>
                <a:cs typeface="+mj-cs"/>
              </a:rPr>
              <a:t>FAQ</a:t>
            </a:r>
            <a:r>
              <a:rPr kumimoji="1" lang="en-US" altLang="zh-TW" sz="1800" b="1" dirty="0">
                <a:solidFill>
                  <a:schemeClr val="tx1">
                    <a:lumMod val="50000"/>
                    <a:lumOff val="50000"/>
                  </a:schemeClr>
                </a:solidFill>
              </a:rPr>
              <a:t>(</a:t>
            </a:r>
            <a:r>
              <a:rPr kumimoji="1" lang="zh-TW" altLang="en-US" sz="1800" b="1" dirty="0">
                <a:solidFill>
                  <a:schemeClr val="tx1">
                    <a:lumMod val="50000"/>
                    <a:lumOff val="50000"/>
                  </a:schemeClr>
                </a:solidFill>
              </a:rPr>
              <a:t>展開</a:t>
            </a:r>
            <a:r>
              <a:rPr kumimoji="1" lang="en-US" altLang="zh-TW" sz="1800" b="1" dirty="0">
                <a:solidFill>
                  <a:schemeClr val="tx1">
                    <a:lumMod val="50000"/>
                    <a:lumOff val="50000"/>
                  </a:schemeClr>
                </a:solidFill>
              </a:rPr>
              <a:t>3/3)</a:t>
            </a:r>
            <a:endParaRPr kumimoji="1" lang="zh-TW" altLang="en-US" sz="1800" b="1" dirty="0">
              <a:solidFill>
                <a:schemeClr val="tx1">
                  <a:lumMod val="50000"/>
                  <a:lumOff val="50000"/>
                </a:schemeClr>
              </a:solidFill>
            </a:endParaRPr>
          </a:p>
        </p:txBody>
      </p:sp>
      <p:graphicFrame>
        <p:nvGraphicFramePr>
          <p:cNvPr id="4" name="表格 3">
            <a:extLst>
              <a:ext uri="{FF2B5EF4-FFF2-40B4-BE49-F238E27FC236}">
                <a16:creationId xmlns:a16="http://schemas.microsoft.com/office/drawing/2014/main" id="{A7594078-E8E6-411A-A83E-7AF0219DA87A}"/>
              </a:ext>
            </a:extLst>
          </p:cNvPr>
          <p:cNvGraphicFramePr>
            <a:graphicFrameLocks noGrp="1"/>
          </p:cNvGraphicFramePr>
          <p:nvPr/>
        </p:nvGraphicFramePr>
        <p:xfrm>
          <a:off x="504120" y="935923"/>
          <a:ext cx="10971212" cy="2665408"/>
        </p:xfrm>
        <a:graphic>
          <a:graphicData uri="http://schemas.openxmlformats.org/drawingml/2006/table">
            <a:tbl>
              <a:tblPr/>
              <a:tblGrid>
                <a:gridCol w="508973">
                  <a:extLst>
                    <a:ext uri="{9D8B030D-6E8A-4147-A177-3AD203B41FA5}">
                      <a16:colId xmlns:a16="http://schemas.microsoft.com/office/drawing/2014/main" val="2989757198"/>
                    </a:ext>
                  </a:extLst>
                </a:gridCol>
                <a:gridCol w="10462239">
                  <a:extLst>
                    <a:ext uri="{9D8B030D-6E8A-4147-A177-3AD203B41FA5}">
                      <a16:colId xmlns:a16="http://schemas.microsoft.com/office/drawing/2014/main" val="3090173034"/>
                    </a:ext>
                  </a:extLst>
                </a:gridCol>
              </a:tblGrid>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Q</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7</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定時</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不</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定額能否選擇多個扣款日？</a:t>
                      </a:r>
                    </a:p>
                    <a:p>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66190065"/>
                  </a:ext>
                </a:extLst>
              </a:tr>
              <a:tr h="888470">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7</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可選擇多個扣款日，每月可選擇任</a:t>
                      </a:r>
                      <a:r>
                        <a:rPr lang="en-US"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1-31</a:t>
                      </a: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日進行扣款，若約定扣款日遇到例假日，則順延至下一個營業日扣款，若遇當月無該設定的扣款日，則當月不執行該筆約定扣款。</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766522"/>
                  </a:ext>
                </a:extLst>
              </a:tr>
              <a:tr h="387923">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Q</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8</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已完成線上信託開戶，為什麼還不能申購退休可攜基金？</a:t>
                      </a: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61540994"/>
                  </a:ext>
                </a:extLst>
              </a:tr>
              <a:tr h="1001092">
                <a:tc>
                  <a:txBody>
                    <a:bodyPr/>
                    <a:lstStyle/>
                    <a:p>
                      <a:pPr algn="ctr" fontAlgn="ctr"/>
                      <a:r>
                        <a:rPr lang="en-US" sz="1100" b="0" i="0" u="none" strike="noStrike" dirty="0">
                          <a:solidFill>
                            <a:srgbClr val="000000"/>
                          </a:solidFill>
                          <a:effectLst/>
                          <a:latin typeface="微軟正黑體" panose="020B0604030504040204" pitchFamily="34" charset="-120"/>
                          <a:ea typeface="微軟正黑體" panose="020B0604030504040204" pitchFamily="34" charset="-120"/>
                        </a:rPr>
                        <a:t>A</a:t>
                      </a:r>
                      <a:r>
                        <a:rPr lang="en-US" altLang="zh-TW" sz="1100" b="0" i="0" u="none" strike="noStrike" dirty="0">
                          <a:solidFill>
                            <a:srgbClr val="000000"/>
                          </a:solidFill>
                          <a:effectLst/>
                          <a:latin typeface="微軟正黑體" panose="020B0604030504040204" pitchFamily="34" charset="-120"/>
                          <a:ea typeface="微軟正黑體" panose="020B0604030504040204" pitchFamily="34" charset="-120"/>
                        </a:rPr>
                        <a:t>8</a:t>
                      </a:r>
                      <a:endParaRPr lang="en-US" sz="1100" b="0" i="0" u="none" strike="noStrike" dirty="0">
                        <a:solidFill>
                          <a:srgbClr val="000000"/>
                        </a:solidFill>
                        <a:effectLst/>
                        <a:latin typeface="微軟正黑體" panose="020B0604030504040204" pitchFamily="34" charset="-120"/>
                        <a:ea typeface="微軟正黑體" panose="020B0604030504040204" pitchFamily="34" charset="-120"/>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rPr>
                        <a:t>請確認已有完成線上簽署永豐信託帳戶退休可攜契約條款，且已完成客戶投資屬性評估。您所申購之退休可攜基金應符合您的投資屬性方可進行投資。</a:t>
                      </a:r>
                    </a:p>
                    <a:p>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p>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p>
                      <a:pPr lvl="0"/>
                      <a:endParaRPr lang="zh-TW" altLang="zh-TW" sz="1100" b="0" i="0" u="none" strike="noStrike" kern="1200" dirty="0">
                        <a:solidFill>
                          <a:srgbClr val="000000"/>
                        </a:solidFill>
                        <a:effectLst/>
                        <a:latin typeface="微軟正黑體" panose="020B0604030504040204" pitchFamily="34" charset="-120"/>
                        <a:ea typeface="微軟正黑體" panose="020B0604030504040204" pitchFamily="34" charset="-120"/>
                        <a:cs typeface="+mn-cs"/>
                      </a:endParaRPr>
                    </a:p>
                  </a:txBody>
                  <a:tcPr marL="6642" marR="6642" marT="664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53482865"/>
                  </a:ext>
                </a:extLst>
              </a:tr>
            </a:tbl>
          </a:graphicData>
        </a:graphic>
      </p:graphicFrame>
    </p:spTree>
    <p:extLst>
      <p:ext uri="{BB962C8B-B14F-4D97-AF65-F5344CB8AC3E}">
        <p14:creationId xmlns:p14="http://schemas.microsoft.com/office/powerpoint/2010/main" val="42186408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a:xfrm>
            <a:off x="358605" y="147918"/>
            <a:ext cx="11116727" cy="622580"/>
          </a:xfrm>
        </p:spPr>
        <p:txBody>
          <a:bodyPr/>
          <a:lstStyle/>
          <a:p>
            <a:r>
              <a:rPr kumimoji="1" lang="zh-TW" altLang="en-US" b="1" dirty="0"/>
              <a:t>投資警語</a:t>
            </a:r>
            <a:endParaRPr kumimoji="1" lang="zh-TW" altLang="en-US" b="1" dirty="0">
              <a:solidFill>
                <a:srgbClr val="FF0000"/>
              </a:solidFill>
            </a:endParaRPr>
          </a:p>
        </p:txBody>
      </p:sp>
      <p:pic>
        <p:nvPicPr>
          <p:cNvPr id="5" name="圖片 4">
            <a:extLst>
              <a:ext uri="{FF2B5EF4-FFF2-40B4-BE49-F238E27FC236}">
                <a16:creationId xmlns:a16="http://schemas.microsoft.com/office/drawing/2014/main" id="{A5C007F3-2076-5D83-2F6C-6FD12AAC432C}"/>
              </a:ext>
            </a:extLst>
          </p:cNvPr>
          <p:cNvPicPr>
            <a:picLocks noChangeAspect="1"/>
          </p:cNvPicPr>
          <p:nvPr/>
        </p:nvPicPr>
        <p:blipFill>
          <a:blip r:embed="rId3"/>
          <a:stretch>
            <a:fillRect/>
          </a:stretch>
        </p:blipFill>
        <p:spPr>
          <a:xfrm>
            <a:off x="2416925" y="0"/>
            <a:ext cx="9050729" cy="6631460"/>
          </a:xfrm>
          <a:prstGeom prst="rect">
            <a:avLst/>
          </a:prstGeom>
        </p:spPr>
      </p:pic>
      <p:sp>
        <p:nvSpPr>
          <p:cNvPr id="8" name="文字方塊 7">
            <a:extLst>
              <a:ext uri="{FF2B5EF4-FFF2-40B4-BE49-F238E27FC236}">
                <a16:creationId xmlns:a16="http://schemas.microsoft.com/office/drawing/2014/main" id="{8CF8DC1F-97F7-F833-AE89-8A58085C09AA}"/>
              </a:ext>
            </a:extLst>
          </p:cNvPr>
          <p:cNvSpPr txBox="1"/>
          <p:nvPr/>
        </p:nvSpPr>
        <p:spPr>
          <a:xfrm>
            <a:off x="5855044" y="5096528"/>
            <a:ext cx="2399270"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4"/>
              </a:rPr>
              <a:t>https://www.fundclear.com.tw/</a:t>
            </a:r>
            <a:endParaRPr lang="zh-TW" altLang="en-US" dirty="0"/>
          </a:p>
        </p:txBody>
      </p:sp>
      <p:cxnSp>
        <p:nvCxnSpPr>
          <p:cNvPr id="12" name="接點: 肘形 11">
            <a:extLst>
              <a:ext uri="{FF2B5EF4-FFF2-40B4-BE49-F238E27FC236}">
                <a16:creationId xmlns:a16="http://schemas.microsoft.com/office/drawing/2014/main" id="{F57C1923-4725-71D1-D854-6C3C92A90681}"/>
              </a:ext>
            </a:extLst>
          </p:cNvPr>
          <p:cNvCxnSpPr>
            <a:endCxn id="8" idx="0"/>
          </p:cNvCxnSpPr>
          <p:nvPr/>
        </p:nvCxnSpPr>
        <p:spPr bwMode="auto">
          <a:xfrm rot="10800000">
            <a:off x="7054679" y="5096528"/>
            <a:ext cx="1545624" cy="12700"/>
          </a:xfrm>
          <a:prstGeom prst="bentConnector4">
            <a:avLst>
              <a:gd name="adj1" fmla="val -533"/>
              <a:gd name="adj2" fmla="val 4656756"/>
            </a:avLst>
          </a:prstGeom>
          <a:solidFill>
            <a:schemeClr val="accent1"/>
          </a:solidFill>
          <a:ln w="19050" cap="flat" cmpd="sng" algn="ctr">
            <a:solidFill>
              <a:srgbClr val="FF0000"/>
            </a:solidFill>
            <a:prstDash val="dash"/>
            <a:round/>
            <a:headEnd type="none" w="med" len="med"/>
            <a:tailEnd type="triangle"/>
          </a:ln>
          <a:effectLst/>
        </p:spPr>
      </p:cxnSp>
      <p:sp>
        <p:nvSpPr>
          <p:cNvPr id="15" name="文字方塊 14">
            <a:extLst>
              <a:ext uri="{FF2B5EF4-FFF2-40B4-BE49-F238E27FC236}">
                <a16:creationId xmlns:a16="http://schemas.microsoft.com/office/drawing/2014/main" id="{78E3033A-A13F-F941-F60B-F6AB1C15A7FC}"/>
              </a:ext>
            </a:extLst>
          </p:cNvPr>
          <p:cNvSpPr txBox="1"/>
          <p:nvPr/>
        </p:nvSpPr>
        <p:spPr>
          <a:xfrm>
            <a:off x="5855044" y="6059555"/>
            <a:ext cx="2399270"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4"/>
              </a:rPr>
              <a:t>https://www.fundclear.com.tw/</a:t>
            </a:r>
            <a:endParaRPr lang="zh-TW" altLang="en-US" dirty="0"/>
          </a:p>
        </p:txBody>
      </p:sp>
      <p:cxnSp>
        <p:nvCxnSpPr>
          <p:cNvPr id="17" name="接點: 肘形 16">
            <a:extLst>
              <a:ext uri="{FF2B5EF4-FFF2-40B4-BE49-F238E27FC236}">
                <a16:creationId xmlns:a16="http://schemas.microsoft.com/office/drawing/2014/main" id="{85BAA308-5695-371C-3961-FDA23336D969}"/>
              </a:ext>
            </a:extLst>
          </p:cNvPr>
          <p:cNvCxnSpPr>
            <a:cxnSpLocks/>
          </p:cNvCxnSpPr>
          <p:nvPr/>
        </p:nvCxnSpPr>
        <p:spPr bwMode="auto">
          <a:xfrm rot="10800000" flipV="1">
            <a:off x="7054680" y="5896945"/>
            <a:ext cx="1479721" cy="162609"/>
          </a:xfrm>
          <a:prstGeom prst="bentConnector3">
            <a:avLst>
              <a:gd name="adj1" fmla="val 100104"/>
            </a:avLst>
          </a:prstGeom>
          <a:solidFill>
            <a:schemeClr val="accent1"/>
          </a:solidFill>
          <a:ln w="19050" cap="flat" cmpd="sng" algn="ctr">
            <a:solidFill>
              <a:srgbClr val="FF0000"/>
            </a:solidFill>
            <a:prstDash val="dash"/>
            <a:round/>
            <a:headEnd type="none" w="med" len="med"/>
            <a:tailEnd type="triangle"/>
          </a:ln>
          <a:effectLst/>
        </p:spPr>
      </p:cxnSp>
    </p:spTree>
    <p:extLst>
      <p:ext uri="{BB962C8B-B14F-4D97-AF65-F5344CB8AC3E}">
        <p14:creationId xmlns:p14="http://schemas.microsoft.com/office/powerpoint/2010/main" val="3104642339"/>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9CAB29D-AF3F-9346-B955-279AC2CD3C92}"/>
              </a:ext>
            </a:extLst>
          </p:cNvPr>
          <p:cNvSpPr>
            <a:spLocks noGrp="1"/>
          </p:cNvSpPr>
          <p:nvPr>
            <p:ph type="title"/>
          </p:nvPr>
        </p:nvSpPr>
        <p:spPr>
          <a:xfrm>
            <a:off x="358605" y="147918"/>
            <a:ext cx="11116727" cy="622580"/>
          </a:xfrm>
        </p:spPr>
        <p:txBody>
          <a:bodyPr/>
          <a:lstStyle/>
          <a:p>
            <a:r>
              <a:rPr kumimoji="1" lang="en-US" altLang="zh-TW" b="1" dirty="0"/>
              <a:t>Footer</a:t>
            </a:r>
            <a:endParaRPr kumimoji="1" lang="zh-TW" altLang="en-US" b="1" dirty="0">
              <a:solidFill>
                <a:srgbClr val="FF0000"/>
              </a:solidFill>
            </a:endParaRPr>
          </a:p>
        </p:txBody>
      </p:sp>
      <p:sp>
        <p:nvSpPr>
          <p:cNvPr id="14" name="文字方塊 13">
            <a:extLst>
              <a:ext uri="{FF2B5EF4-FFF2-40B4-BE49-F238E27FC236}">
                <a16:creationId xmlns:a16="http://schemas.microsoft.com/office/drawing/2014/main" id="{072EAFE5-7EC3-1EB4-9B78-6C0721C614D5}"/>
              </a:ext>
            </a:extLst>
          </p:cNvPr>
          <p:cNvSpPr txBox="1"/>
          <p:nvPr/>
        </p:nvSpPr>
        <p:spPr>
          <a:xfrm>
            <a:off x="5322403" y="3474697"/>
            <a:ext cx="4933705"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en-US" altLang="zh-TW" dirty="0">
                <a:hlinkClick r:id="rId2"/>
              </a:rPr>
              <a:t>https://bank.sinopac.com/MMA8/bank/service/service-index.html</a:t>
            </a:r>
            <a:endParaRPr lang="zh-TW" altLang="en-US" dirty="0"/>
          </a:p>
        </p:txBody>
      </p:sp>
      <p:sp>
        <p:nvSpPr>
          <p:cNvPr id="16" name="文字方塊 15">
            <a:extLst>
              <a:ext uri="{FF2B5EF4-FFF2-40B4-BE49-F238E27FC236}">
                <a16:creationId xmlns:a16="http://schemas.microsoft.com/office/drawing/2014/main" id="{49754331-45BA-8176-AE11-D1F0812DAC0D}"/>
              </a:ext>
            </a:extLst>
          </p:cNvPr>
          <p:cNvSpPr txBox="1"/>
          <p:nvPr/>
        </p:nvSpPr>
        <p:spPr>
          <a:xfrm>
            <a:off x="5322403" y="3918851"/>
            <a:ext cx="5073748" cy="276999"/>
          </a:xfrm>
          <a:prstGeom prst="rect">
            <a:avLst/>
          </a:prstGeom>
          <a:solidFill>
            <a:srgbClr val="FDF3DB"/>
          </a:solidFill>
        </p:spPr>
        <p:txBody>
          <a:bodyPr wrap="square" rtlCol="0">
            <a:spAutoFit/>
          </a:bodyPr>
          <a:lstStyle>
            <a:defPPr>
              <a:defRPr lang="en-US"/>
            </a:defPPr>
            <a:lvl1pPr>
              <a:defRPr sz="1200" b="0">
                <a:latin typeface="微軟正黑體" panose="020B0604030504040204" pitchFamily="34" charset="-120"/>
                <a:ea typeface="微軟正黑體" panose="020B0604030504040204" pitchFamily="34" charset="-120"/>
              </a:defRPr>
            </a:lvl1pPr>
          </a:lstStyle>
          <a:p>
            <a:r>
              <a:rPr lang="zh-TW" altLang="en-US" dirty="0">
                <a:hlinkClick r:id="rId3"/>
              </a:rPr>
              <a:t>https://bank.sinopac.com/sinopacBT/footer/privacy-statement.html</a:t>
            </a:r>
            <a:endParaRPr lang="zh-TW" altLang="en-US" dirty="0"/>
          </a:p>
        </p:txBody>
      </p:sp>
      <p:cxnSp>
        <p:nvCxnSpPr>
          <p:cNvPr id="28" name="接點: 肘形 27">
            <a:extLst>
              <a:ext uri="{FF2B5EF4-FFF2-40B4-BE49-F238E27FC236}">
                <a16:creationId xmlns:a16="http://schemas.microsoft.com/office/drawing/2014/main" id="{6BC15B94-6C9D-8BB1-50CD-90F949D40165}"/>
              </a:ext>
            </a:extLst>
          </p:cNvPr>
          <p:cNvCxnSpPr>
            <a:cxnSpLocks/>
            <a:endCxn id="16" idx="3"/>
          </p:cNvCxnSpPr>
          <p:nvPr/>
        </p:nvCxnSpPr>
        <p:spPr bwMode="auto">
          <a:xfrm rot="16200000" flipH="1">
            <a:off x="9175066" y="2836265"/>
            <a:ext cx="1266219" cy="1175951"/>
          </a:xfrm>
          <a:prstGeom prst="bentConnector4">
            <a:avLst>
              <a:gd name="adj1" fmla="val 44531"/>
              <a:gd name="adj2" fmla="val 119440"/>
            </a:avLst>
          </a:prstGeom>
          <a:solidFill>
            <a:schemeClr val="accent1"/>
          </a:solidFill>
          <a:ln w="9525" cap="flat" cmpd="sng" algn="ctr">
            <a:solidFill>
              <a:srgbClr val="FF0000"/>
            </a:solidFill>
            <a:prstDash val="dash"/>
            <a:round/>
            <a:headEnd type="none" w="med" len="med"/>
            <a:tailEnd type="triangle"/>
          </a:ln>
          <a:effectLst/>
        </p:spPr>
      </p:cxnSp>
      <p:pic>
        <p:nvPicPr>
          <p:cNvPr id="4" name="圖片 3">
            <a:extLst>
              <a:ext uri="{FF2B5EF4-FFF2-40B4-BE49-F238E27FC236}">
                <a16:creationId xmlns:a16="http://schemas.microsoft.com/office/drawing/2014/main" id="{8902EEF9-A85A-44BF-960A-DB478A74ECA8}"/>
              </a:ext>
            </a:extLst>
          </p:cNvPr>
          <p:cNvPicPr>
            <a:picLocks noChangeAspect="1"/>
          </p:cNvPicPr>
          <p:nvPr/>
        </p:nvPicPr>
        <p:blipFill>
          <a:blip r:embed="rId4"/>
          <a:stretch>
            <a:fillRect/>
          </a:stretch>
        </p:blipFill>
        <p:spPr>
          <a:xfrm>
            <a:off x="5556" y="2374918"/>
            <a:ext cx="11949113" cy="416214"/>
          </a:xfrm>
          <a:prstGeom prst="rect">
            <a:avLst/>
          </a:prstGeom>
        </p:spPr>
      </p:pic>
      <p:cxnSp>
        <p:nvCxnSpPr>
          <p:cNvPr id="20" name="接點: 肘形 19">
            <a:extLst>
              <a:ext uri="{FF2B5EF4-FFF2-40B4-BE49-F238E27FC236}">
                <a16:creationId xmlns:a16="http://schemas.microsoft.com/office/drawing/2014/main" id="{6DBA0D00-64F4-AACA-A765-FBD074B064F2}"/>
              </a:ext>
            </a:extLst>
          </p:cNvPr>
          <p:cNvCxnSpPr>
            <a:cxnSpLocks/>
            <a:endCxn id="14" idx="1"/>
          </p:cNvCxnSpPr>
          <p:nvPr/>
        </p:nvCxnSpPr>
        <p:spPr bwMode="auto">
          <a:xfrm rot="5400000">
            <a:off x="6414396" y="1699139"/>
            <a:ext cx="822066" cy="3006051"/>
          </a:xfrm>
          <a:prstGeom prst="bentConnector4">
            <a:avLst>
              <a:gd name="adj1" fmla="val 41576"/>
              <a:gd name="adj2" fmla="val 107605"/>
            </a:avLst>
          </a:prstGeom>
          <a:solidFill>
            <a:schemeClr val="accent1"/>
          </a:solidFill>
          <a:ln w="9525" cap="flat" cmpd="sng" algn="ctr">
            <a:solidFill>
              <a:srgbClr val="FF0000"/>
            </a:solidFill>
            <a:prstDash val="dash"/>
            <a:round/>
            <a:headEnd type="none" w="med" len="med"/>
            <a:tailEnd type="triangle"/>
          </a:ln>
          <a:effectLst/>
        </p:spPr>
      </p:cxnSp>
    </p:spTree>
    <p:extLst>
      <p:ext uri="{BB962C8B-B14F-4D97-AF65-F5344CB8AC3E}">
        <p14:creationId xmlns:p14="http://schemas.microsoft.com/office/powerpoint/2010/main" val="3536556469"/>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10;&lt;root&gt;&lt;version val=&quot;14478&quot;/&gt;&lt;partner val=&quot;536&quot;/&gt;&lt;CPresentation id=&quot;1&quot;&gt;&lt;m_defprecNumber idref=&quot;2&quot;/&gt;&lt;m_defprecPercent idref=&quot;3&quot;/&gt;&lt;m_defprecDate idref=&quot;4&quot;/&gt;&lt;m_defprecYear idref=&quot;5&quot;/&gt;&lt;m_defprecQuarter idref=&quot;6&quot;/&gt;&lt;m_defprecMonth idref=&quot;7&quot;/&gt;&lt;m_defprecWeek idref=&quot;8&quot;/&gt;&lt;m_defprecDay idref=&quot;9&quot;/&gt;&lt;/CPresentation&gt;&lt;CDefaultPrec id=&quot;9&quot;&gt;&lt;m_precDefault/&gt;&lt;/CDefaultPrec&gt;&lt;CDefaultPrec id=&quot;8&quot;&gt;&lt;m_precDefault/&gt;&lt;/CDefaultPrec&gt;&lt;CDefaultPrec id=&quot;7&quot;&gt;&lt;m_precDefault/&gt;&lt;/CDefaultPrec&gt;&lt;CDefaultPrec id=&quot;6&quot;&gt;&lt;m_precDefault/&gt;&lt;/CDefaultPrec&gt;&lt;CDefaultPrec id=&quot;5&quot;&gt;&lt;m_precDefault/&gt;&lt;/CDefaultPrec&gt;&lt;CDefaultPrec id=&quot;4&quot;&gt;&lt;m_precDefault/&gt;&lt;/CDefaultPrec&gt;&lt;CDefaultPrec id=&quot;3&quot;&gt;&lt;m_precDefault/&gt;&lt;/CDefaultPrec&gt;&lt;CDefaultPrec id=&quot;2&quot;&gt;&lt;m_precDefault&gt;&lt;m_chDecimalSymbol val=&quot;.&quot;&gt;.&lt;/m_chDecimalSymbol&gt;&lt;m_nGroupingDigits val=&quot;3&quot;/&gt;&lt;m_chGroupingSymbol val=&quot;,&quot;&gt;,&lt;/m_chGroupingSymbol&gt;&lt;/m_precDefault&gt;&lt;/CDefaultPrec&gt;&lt;/root&gt;"/>
  <p:tag name="THINKCELLUNDODONOTDELETE" val="1474"/>
</p:tagLst>
</file>

<file path=ppt/tags/tag2.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niversal Template">
      <a:majorFont>
        <a:latin typeface="Arial"/>
        <a:ea typeface=""/>
        <a:cs typeface=""/>
      </a:majorFont>
      <a:minorFont>
        <a:latin typeface="Times New Roman"/>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ea typeface="华文楷体" pitchFamily="2" charset="-122"/>
          </a:defRPr>
        </a:defPPr>
      </a:lstStyle>
    </a:lnDef>
  </a:objectDefaults>
  <a:extraClrSchemeLst>
    <a:extraClrScheme>
      <a:clrScheme name="Universal Template 1">
        <a:dk1>
          <a:srgbClr val="000000"/>
        </a:dk1>
        <a:lt1>
          <a:srgbClr val="FFFFFF"/>
        </a:lt1>
        <a:dk2>
          <a:srgbClr val="000000"/>
        </a:dk2>
        <a:lt2>
          <a:srgbClr val="FFFFFF"/>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606060"/>
        </a:folHlink>
      </a:clrScheme>
      <a:clrMap bg1="lt1" tx1="dk1" bg2="lt2" tx2="dk2" accent1="accent1" accent2="accent2" accent3="accent3" accent4="accent4" accent5="accent5" accent6="accent6" hlink="hlink" folHlink="folHlink"/>
    </a:extraClrScheme>
    <a:extraClrScheme>
      <a:clrScheme name="Universal Template 2">
        <a:dk1>
          <a:srgbClr val="000000"/>
        </a:dk1>
        <a:lt1>
          <a:srgbClr val="FFFFFF"/>
        </a:lt1>
        <a:dk2>
          <a:srgbClr val="002960"/>
        </a:dk2>
        <a:lt2>
          <a:srgbClr val="FFFFFF"/>
        </a:lt2>
        <a:accent1>
          <a:srgbClr val="C7E0FB"/>
        </a:accent1>
        <a:accent2>
          <a:srgbClr val="91B0FF"/>
        </a:accent2>
        <a:accent3>
          <a:srgbClr val="FFFFFF"/>
        </a:accent3>
        <a:accent4>
          <a:srgbClr val="000000"/>
        </a:accent4>
        <a:accent5>
          <a:srgbClr val="E0EDFD"/>
        </a:accent5>
        <a:accent6>
          <a:srgbClr val="839FE7"/>
        </a:accent6>
        <a:hlink>
          <a:srgbClr val="0066CC"/>
        </a:hlink>
        <a:folHlink>
          <a:srgbClr val="002960"/>
        </a:folHlink>
      </a:clrScheme>
      <a:clrMap bg1="lt1" tx1="dk1" bg2="lt2" tx2="dk2" accent1="accent1" accent2="accent2" accent3="accent3" accent4="accent4" accent5="accent5" accent6="accent6" hlink="hlink" folHlink="folHlink"/>
    </a:extraClrScheme>
    <a:extraClrScheme>
      <a:clrScheme name="Universal Template 3">
        <a:dk1>
          <a:srgbClr val="002960"/>
        </a:dk1>
        <a:lt1>
          <a:srgbClr val="FFFFFF"/>
        </a:lt1>
        <a:dk2>
          <a:srgbClr val="002960"/>
        </a:dk2>
        <a:lt2>
          <a:srgbClr val="FFBE3D"/>
        </a:lt2>
        <a:accent1>
          <a:srgbClr val="0066CC"/>
        </a:accent1>
        <a:accent2>
          <a:srgbClr val="5F8DFF"/>
        </a:accent2>
        <a:accent3>
          <a:srgbClr val="AAACB6"/>
        </a:accent3>
        <a:accent4>
          <a:srgbClr val="DADADA"/>
        </a:accent4>
        <a:accent5>
          <a:srgbClr val="AAB8E2"/>
        </a:accent5>
        <a:accent6>
          <a:srgbClr val="557FE7"/>
        </a:accent6>
        <a:hlink>
          <a:srgbClr val="96C5F8"/>
        </a:hlink>
        <a:folHlink>
          <a:srgbClr val="D8E9FC"/>
        </a:folHlink>
      </a:clrScheme>
      <a:clrMap bg1="dk2" tx1="lt1" bg2="dk1" tx2="lt2" accent1="accent1" accent2="accent2" accent3="accent3" accent4="accent4" accent5="accent5" accent6="accent6" hlink="hlink" folHlink="folHlink"/>
    </a:extraClrScheme>
    <a:extraClrScheme>
      <a:clrScheme name="Universal Template 4">
        <a:dk1>
          <a:srgbClr val="000000"/>
        </a:dk1>
        <a:lt1>
          <a:srgbClr val="FFFFFF"/>
        </a:lt1>
        <a:dk2>
          <a:srgbClr val="000000"/>
        </a:dk2>
        <a:lt2>
          <a:srgbClr val="FFBE3D"/>
        </a:lt2>
        <a:accent1>
          <a:srgbClr val="002960"/>
        </a:accent1>
        <a:accent2>
          <a:srgbClr val="0066CC"/>
        </a:accent2>
        <a:accent3>
          <a:srgbClr val="AAAAAA"/>
        </a:accent3>
        <a:accent4>
          <a:srgbClr val="DADADA"/>
        </a:accent4>
        <a:accent5>
          <a:srgbClr val="AAACB6"/>
        </a:accent5>
        <a:accent6>
          <a:srgbClr val="005CB9"/>
        </a:accent6>
        <a:hlink>
          <a:srgbClr val="91B0FF"/>
        </a:hlink>
        <a:folHlink>
          <a:srgbClr val="C7E0FB"/>
        </a:folHlink>
      </a:clrScheme>
      <a:clrMap bg1="dk2" tx1="lt1" bg2="dk1" tx2="lt2" accent1="accent1" accent2="accent2" accent3="accent3" accent4="accent4" accent5="accent5" accent6="accent6" hlink="hlink" folHlink="folHlink"/>
    </a:extraClrScheme>
    <a:extraClrScheme>
      <a:clrScheme name="Universal Template 5">
        <a:dk1>
          <a:srgbClr val="000000"/>
        </a:dk1>
        <a:lt1>
          <a:srgbClr val="FFFFFF"/>
        </a:lt1>
        <a:dk2>
          <a:srgbClr val="002960"/>
        </a:dk2>
        <a:lt2>
          <a:srgbClr val="FFFFFF"/>
        </a:lt2>
        <a:accent1>
          <a:srgbClr val="C7E0FB"/>
        </a:accent1>
        <a:accent2>
          <a:srgbClr val="FFCC66"/>
        </a:accent2>
        <a:accent3>
          <a:srgbClr val="FFFFFF"/>
        </a:accent3>
        <a:accent4>
          <a:srgbClr val="000000"/>
        </a:accent4>
        <a:accent5>
          <a:srgbClr val="E0EDFD"/>
        </a:accent5>
        <a:accent6>
          <a:srgbClr val="E7B95C"/>
        </a:accent6>
        <a:hlink>
          <a:srgbClr val="4F8636"/>
        </a:hlink>
        <a:folHlink>
          <a:srgbClr val="002960"/>
        </a:folHlink>
      </a:clrScheme>
      <a:clrMap bg1="lt1" tx1="dk1" bg2="lt2" tx2="dk2" accent1="accent1" accent2="accent2" accent3="accent3" accent4="accent4" accent5="accent5" accent6="accent6" hlink="hlink" folHlink="folHlink"/>
    </a:extraClrScheme>
    <a:extraClrScheme>
      <a:clrScheme name="Universal Template 6">
        <a:dk1>
          <a:srgbClr val="002960"/>
        </a:dk1>
        <a:lt1>
          <a:srgbClr val="FFFFFF"/>
        </a:lt1>
        <a:dk2>
          <a:srgbClr val="002960"/>
        </a:dk2>
        <a:lt2>
          <a:srgbClr val="FFBE3D"/>
        </a:lt2>
        <a:accent1>
          <a:srgbClr val="0066CC"/>
        </a:accent1>
        <a:accent2>
          <a:srgbClr val="4F8636"/>
        </a:accent2>
        <a:accent3>
          <a:srgbClr val="AAACB6"/>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7">
        <a:dk1>
          <a:srgbClr val="000000"/>
        </a:dk1>
        <a:lt1>
          <a:srgbClr val="FFFFFF"/>
        </a:lt1>
        <a:dk2>
          <a:srgbClr val="000000"/>
        </a:dk2>
        <a:lt2>
          <a:srgbClr val="FFBE3D"/>
        </a:lt2>
        <a:accent1>
          <a:srgbClr val="0066CC"/>
        </a:accent1>
        <a:accent2>
          <a:srgbClr val="4F8636"/>
        </a:accent2>
        <a:accent3>
          <a:srgbClr val="AAAAAA"/>
        </a:accent3>
        <a:accent4>
          <a:srgbClr val="DADADA"/>
        </a:accent4>
        <a:accent5>
          <a:srgbClr val="AAB8E2"/>
        </a:accent5>
        <a:accent6>
          <a:srgbClr val="477930"/>
        </a:accent6>
        <a:hlink>
          <a:srgbClr val="FF9900"/>
        </a:hlink>
        <a:folHlink>
          <a:srgbClr val="FFBE3D"/>
        </a:folHlink>
      </a:clrScheme>
      <a:clrMap bg1="dk2" tx1="lt1" bg2="dk1" tx2="lt2" accent1="accent1" accent2="accent2" accent3="accent3" accent4="accent4" accent5="accent5" accent6="accent6" hlink="hlink" folHlink="folHlink"/>
    </a:extraClrScheme>
    <a:extraClrScheme>
      <a:clrScheme name="Universal Template 8">
        <a:dk1>
          <a:srgbClr val="000000"/>
        </a:dk1>
        <a:lt1>
          <a:srgbClr val="FFFFFF"/>
        </a:lt1>
        <a:dk2>
          <a:srgbClr val="002960"/>
        </a:dk2>
        <a:lt2>
          <a:srgbClr val="FFFFFF"/>
        </a:lt2>
        <a:accent1>
          <a:srgbClr val="C7E0FB"/>
        </a:accent1>
        <a:accent2>
          <a:srgbClr val="C7C293"/>
        </a:accent2>
        <a:accent3>
          <a:srgbClr val="FFFFFF"/>
        </a:accent3>
        <a:accent4>
          <a:srgbClr val="000000"/>
        </a:accent4>
        <a:accent5>
          <a:srgbClr val="E0EDFD"/>
        </a:accent5>
        <a:accent6>
          <a:srgbClr val="B4B085"/>
        </a:accent6>
        <a:hlink>
          <a:srgbClr val="50A2A0"/>
        </a:hlink>
        <a:folHlink>
          <a:srgbClr val="002960"/>
        </a:folHlink>
      </a:clrScheme>
      <a:clrMap bg1="lt1" tx1="dk1" bg2="lt2" tx2="dk2" accent1="accent1" accent2="accent2" accent3="accent3" accent4="accent4" accent5="accent5" accent6="accent6" hlink="hlink" folHlink="folHlink"/>
    </a:extraClrScheme>
    <a:extraClrScheme>
      <a:clrScheme name="Universal Template 9">
        <a:dk1>
          <a:srgbClr val="002960"/>
        </a:dk1>
        <a:lt1>
          <a:srgbClr val="FFFFFF"/>
        </a:lt1>
        <a:dk2>
          <a:srgbClr val="002960"/>
        </a:dk2>
        <a:lt2>
          <a:srgbClr val="FFBE3D"/>
        </a:lt2>
        <a:accent1>
          <a:srgbClr val="0066CC"/>
        </a:accent1>
        <a:accent2>
          <a:srgbClr val="50A2A0"/>
        </a:accent2>
        <a:accent3>
          <a:srgbClr val="AAACB6"/>
        </a:accent3>
        <a:accent4>
          <a:srgbClr val="DADADA"/>
        </a:accent4>
        <a:accent5>
          <a:srgbClr val="AAB8E2"/>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
      <a:clrScheme name="Universal Template 10">
        <a:dk1>
          <a:srgbClr val="000000"/>
        </a:dk1>
        <a:lt1>
          <a:srgbClr val="FFFFFF"/>
        </a:lt1>
        <a:dk2>
          <a:srgbClr val="000000"/>
        </a:dk2>
        <a:lt2>
          <a:srgbClr val="FFBE3D"/>
        </a:lt2>
        <a:accent1>
          <a:srgbClr val="174A7C"/>
        </a:accent1>
        <a:accent2>
          <a:srgbClr val="50A2A0"/>
        </a:accent2>
        <a:accent3>
          <a:srgbClr val="AAAAAA"/>
        </a:accent3>
        <a:accent4>
          <a:srgbClr val="DADADA"/>
        </a:accent4>
        <a:accent5>
          <a:srgbClr val="ABB1BF"/>
        </a:accent5>
        <a:accent6>
          <a:srgbClr val="489291"/>
        </a:accent6>
        <a:hlink>
          <a:srgbClr val="C7C293"/>
        </a:hlink>
        <a:folHlink>
          <a:srgbClr val="FFBE3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000000"/>
      </a:lt2>
      <a:accent1>
        <a:srgbClr val="FFFFFF"/>
      </a:accent1>
      <a:accent2>
        <a:srgbClr val="D0D0D0"/>
      </a:accent2>
      <a:accent3>
        <a:srgbClr val="FFFFFF"/>
      </a:accent3>
      <a:accent4>
        <a:srgbClr val="000000"/>
      </a:accent4>
      <a:accent5>
        <a:srgbClr val="FFFFFF"/>
      </a:accent5>
      <a:accent6>
        <a:srgbClr val="BCBCBC"/>
      </a:accent6>
      <a:hlink>
        <a:srgbClr val="909090"/>
      </a:hlink>
      <a:folHlink>
        <a:srgbClr val="0000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Universal Template</Template>
  <TotalTime>26947</TotalTime>
  <Words>4311</Words>
  <Application>Microsoft Office PowerPoint</Application>
  <PresentationFormat>自訂</PresentationFormat>
  <Paragraphs>225</Paragraphs>
  <Slides>22</Slides>
  <Notes>10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22</vt:i4>
      </vt:variant>
    </vt:vector>
  </HeadingPairs>
  <TitlesOfParts>
    <vt:vector size="31" baseType="lpstr">
      <vt:lpstr>华文细黑</vt:lpstr>
      <vt:lpstr>Microsoft JhengHei</vt:lpstr>
      <vt:lpstr>Microsoft JhengHei</vt:lpstr>
      <vt:lpstr>標楷體</vt:lpstr>
      <vt:lpstr>Arial</vt:lpstr>
      <vt:lpstr>Calibri</vt:lpstr>
      <vt:lpstr>Times New Roman</vt:lpstr>
      <vt:lpstr>Wingdings</vt:lpstr>
      <vt:lpstr>Universal Template</vt:lpstr>
      <vt:lpstr>PowerPoint 簡報</vt:lpstr>
      <vt:lpstr>主頁</vt:lpstr>
      <vt:lpstr>跨行理財 (1/2)</vt:lpstr>
      <vt:lpstr>跨行理財 (2/2)</vt:lpstr>
      <vt:lpstr>退休信託帳戶可攜注意事項</vt:lpstr>
      <vt:lpstr>獨家優勢</vt:lpstr>
      <vt:lpstr>快速啟用</vt:lpstr>
      <vt:lpstr>非永豐客戶攜入庫存_步驟圖一</vt:lpstr>
      <vt:lpstr>非永豐客戶攜入庫存_步驟圖二</vt:lpstr>
      <vt:lpstr>非永豐客戶攜入庫存_步驟圖三</vt:lpstr>
      <vt:lpstr>非永豐客戶攜入庫存_步驟圖四</vt:lpstr>
      <vt:lpstr>永豐客戶申購可攜基金_步驟圖一</vt:lpstr>
      <vt:lpstr>永豐客戶申購可攜基金_步驟圖二</vt:lpstr>
      <vt:lpstr>永豐客戶申購可攜基金_步驟圖三</vt:lpstr>
      <vt:lpstr>帳戶優惠</vt:lpstr>
      <vt:lpstr>優惠方案注意事項</vt:lpstr>
      <vt:lpstr>FAQ(共8題)</vt:lpstr>
      <vt:lpstr>FAQ(展開1/3)</vt:lpstr>
      <vt:lpstr>FAQ(展開2/3)</vt:lpstr>
      <vt:lpstr>FAQ(展開3/3)</vt:lpstr>
      <vt:lpstr>投資警語</vt:lpstr>
      <vt:lpstr>Footer</vt:lpstr>
    </vt:vector>
  </TitlesOfParts>
  <Company>Corporate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Administrator</dc:creator>
  <cp:keywords>Message Universal Template A4</cp:keywords>
  <dc:description>Version 1.1</dc:description>
  <cp:lastModifiedBy>夏柏雅-信託營管部-永豐銀行</cp:lastModifiedBy>
  <cp:revision>1609</cp:revision>
  <cp:lastPrinted>2023-08-22T02:14:48Z</cp:lastPrinted>
  <dcterms:created xsi:type="dcterms:W3CDTF">2005-10-04T01:34:02Z</dcterms:created>
  <dcterms:modified xsi:type="dcterms:W3CDTF">2023-11-17T07:54:24Z</dcterms:modified>
  <cp:category>POT - A4</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Universal Objects">
    <vt:bool>true</vt:bool>
  </property>
  <property fmtid="{D5CDD505-2E9C-101B-9397-08002B2CF9AE}" pid="3" name="McKPaperSize">
    <vt:lpwstr>A4</vt:lpwstr>
  </property>
  <property fmtid="{D5CDD505-2E9C-101B-9397-08002B2CF9AE}" pid="4" name="NotesPageLayout">
    <vt:lpwstr>Message</vt:lpwstr>
  </property>
  <property fmtid="{D5CDD505-2E9C-101B-9397-08002B2CF9AE}" pid="5" name="Event">
    <vt:lpwstr>12th Integration Office Meeting</vt:lpwstr>
  </property>
  <property fmtid="{D5CDD505-2E9C-101B-9397-08002B2CF9AE}" pid="6" name="Delivery Date">
    <vt:lpwstr>December 21, 2005</vt:lpwstr>
  </property>
  <property fmtid="{D5CDD505-2E9C-101B-9397-08002B2CF9AE}" pid="7" name="DocIDinTitle">
    <vt:bool>true</vt:bool>
  </property>
  <property fmtid="{D5CDD505-2E9C-101B-9397-08002B2CF9AE}" pid="8" name="DocIDinSlide">
    <vt:bool>true</vt:bool>
  </property>
  <property fmtid="{D5CDD505-2E9C-101B-9397-08002B2CF9AE}" pid="9" name="DocIDPosition">
    <vt:i4>0</vt:i4>
  </property>
  <property fmtid="{D5CDD505-2E9C-101B-9397-08002B2CF9AE}" pid="10" name="DocID">
    <vt:lpwstr>‹footer›</vt:lpwstr>
  </property>
  <property fmtid="{D5CDD505-2E9C-101B-9397-08002B2CF9AE}" pid="11" name="SWOTitle">
    <vt:lpwstr>Open:20051102 STC v6</vt:lpwstr>
  </property>
  <property fmtid="{D5CDD505-2E9C-101B-9397-08002B2CF9AE}" pid="12" name="Title">
    <vt:lpwstr>Title</vt:lpwstr>
  </property>
  <property fmtid="{D5CDD505-2E9C-101B-9397-08002B2CF9AE}" pid="13" name="Final">
    <vt:bool>true</vt:bool>
  </property>
</Properties>
</file>